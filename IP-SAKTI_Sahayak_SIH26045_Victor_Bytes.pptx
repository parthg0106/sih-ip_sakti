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49b24de7834c5a" /><Relationship Type="http://schemas.openxmlformats.org/officeDocument/2006/relationships/extended-properties" Target="/docProps/app.xml" Id="Rad83856f57d54c8f" /><Relationship Type="http://schemas.openxmlformats.org/officeDocument/2006/relationships/officeDocument" Target="/ppt/presentation.xml" Id="R2eb65697bf3644c1" /></Relationships>
</file>

<file path=ppt/presentation.xml><?xml version="1.0" encoding="utf-8"?>
<p:presentation xmlns:p="http://schemas.openxmlformats.org/presentationml/2006/main">
  <p:sldMasterIdLst>
    <p:sldMasterId xmlns:r="http://schemas.openxmlformats.org/officeDocument/2006/relationships" id="2147483648" r:id="Rfaccf4a762054629"/>
  </p:sldMasterIdLst>
  <p:notesMasterIdLst>
    <p:notesMasterId xmlns:r="http://schemas.openxmlformats.org/officeDocument/2006/relationships" r:id="Reb98c47dd6c64387"/>
  </p:notesMasterIdLst>
  <p:sldIdLst>
    <p:sldId xmlns:r="http://schemas.openxmlformats.org/officeDocument/2006/relationships" id="256" r:id="Rb770d363ace341ff"/>
    <p:sldId xmlns:r="http://schemas.openxmlformats.org/officeDocument/2006/relationships" id="257" r:id="R16e115a95f0d45fc"/>
    <p:sldId xmlns:r="http://schemas.openxmlformats.org/officeDocument/2006/relationships" id="258" r:id="Rc3d8820463d0400d"/>
    <p:sldId xmlns:r="http://schemas.openxmlformats.org/officeDocument/2006/relationships" id="259" r:id="R54ff42f8c58d4b12"/>
    <p:sldId xmlns:r="http://schemas.openxmlformats.org/officeDocument/2006/relationships" id="260" r:id="R204ece076fbb4663"/>
    <p:sldId xmlns:r="http://schemas.openxmlformats.org/officeDocument/2006/relationships" id="261" r:id="R33f531a3bf4442de"/>
  </p:sldIdLst>
  <p:sldSz cx="12192000" cy="6858000"/>
  <p:notesSz cx="6858000" cy="9144000"/>
  <p:defaultTextStyle>
    <a:defPPr xmlns:a="http://schemas.openxmlformats.org/drawingml/2006/main">
      <a:buNone/>
    </a:defPPr>
    <a:lvl1pPr xmlns:a="http://schemas.openxmlformats.org/drawingml/2006/main" algn="l" defTabSz="457200">
      <a:spcBef>
        <a:spcPct val="0"/>
      </a:spcBef>
      <a:spcAft>
        <a:spcPct val="0"/>
      </a:spcAft>
      <a:buNone/>
      <a:defRPr kern="1200">
        <a:solidFill>
          <a:schemeClr val="tx1"/>
        </a:solidFill>
        <a:latin typeface="Calibri"/>
        <a:ea typeface="Calibri"/>
        <a:cs typeface="Calibri"/>
      </a:defRPr>
    </a:lvl1pPr>
    <a:lvl2pPr xmlns:a="http://schemas.openxmlformats.org/drawingml/2006/main" marL="457200" algn="l" defTabSz="457200">
      <a:spcBef>
        <a:spcPct val="0"/>
      </a:spcBef>
      <a:spcAft>
        <a:spcPct val="0"/>
      </a:spcAft>
      <a:buNone/>
      <a:defRPr kern="1200">
        <a:solidFill>
          <a:schemeClr val="tx1"/>
        </a:solidFill>
        <a:latin typeface="Calibri"/>
        <a:ea typeface="Calibri"/>
        <a:cs typeface="Calibri"/>
      </a:defRPr>
    </a:lvl2pPr>
    <a:lvl3pPr xmlns:a="http://schemas.openxmlformats.org/drawingml/2006/main" marL="914400" algn="l" defTabSz="457200">
      <a:spcBef>
        <a:spcPct val="0"/>
      </a:spcBef>
      <a:spcAft>
        <a:spcPct val="0"/>
      </a:spcAft>
      <a:buNone/>
      <a:defRPr kern="1200">
        <a:solidFill>
          <a:schemeClr val="tx1"/>
        </a:solidFill>
        <a:latin typeface="Calibri"/>
        <a:ea typeface="Calibri"/>
        <a:cs typeface="Calibri"/>
      </a:defRPr>
    </a:lvl3pPr>
    <a:lvl4pPr xmlns:a="http://schemas.openxmlformats.org/drawingml/2006/main" marL="1371600" algn="l" defTabSz="457200">
      <a:spcBef>
        <a:spcPct val="0"/>
      </a:spcBef>
      <a:spcAft>
        <a:spcPct val="0"/>
      </a:spcAft>
      <a:buNone/>
      <a:defRPr kern="1200">
        <a:solidFill>
          <a:schemeClr val="tx1"/>
        </a:solidFill>
        <a:latin typeface="Calibri"/>
        <a:ea typeface="Calibri"/>
        <a:cs typeface="Calibri"/>
      </a:defRPr>
    </a:lvl4pPr>
    <a:lvl5pPr xmlns:a="http://schemas.openxmlformats.org/drawingml/2006/main" marL="1828800" algn="l" defTabSz="457200">
      <a:spcBef>
        <a:spcPct val="0"/>
      </a:spcBef>
      <a:spcAft>
        <a:spcPct val="0"/>
      </a:spcAft>
      <a:buNone/>
      <a:defRPr kern="1200">
        <a:solidFill>
          <a:schemeClr val="tx1"/>
        </a:solidFill>
        <a:latin typeface="Calibri"/>
        <a:ea typeface="Calibri"/>
        <a:cs typeface="Calibri"/>
      </a:defRPr>
    </a:lvl5pPr>
    <a:lvl6pPr xmlns:a="http://schemas.openxmlformats.org/drawingml/2006/main" marL="2286000" algn="l" defTabSz="914400">
      <a:buNone/>
      <a:defRPr kern="1200">
        <a:solidFill>
          <a:schemeClr val="tx1"/>
        </a:solidFill>
        <a:latin typeface="Calibri"/>
        <a:ea typeface="Calibri"/>
        <a:cs typeface="Calibri"/>
      </a:defRPr>
    </a:lvl6pPr>
    <a:lvl7pPr xmlns:a="http://schemas.openxmlformats.org/drawingml/2006/main" marL="2743200" algn="l" defTabSz="914400">
      <a:buNone/>
      <a:defRPr kern="1200">
        <a:solidFill>
          <a:schemeClr val="tx1"/>
        </a:solidFill>
        <a:latin typeface="Calibri"/>
        <a:ea typeface="Calibri"/>
        <a:cs typeface="Calibri"/>
      </a:defRPr>
    </a:lvl7pPr>
    <a:lvl8pPr xmlns:a="http://schemas.openxmlformats.org/drawingml/2006/main" marL="3200400" algn="l" defTabSz="914400">
      <a:buNone/>
      <a:defRPr kern="1200">
        <a:solidFill>
          <a:schemeClr val="tx1"/>
        </a:solidFill>
        <a:latin typeface="Calibri"/>
        <a:ea typeface="Calibri"/>
        <a:cs typeface="Calibri"/>
      </a:defRPr>
    </a:lvl8pPr>
    <a:lvl9pPr xmlns:a="http://schemas.openxmlformats.org/drawingml/2006/main" marL="3657600" algn="l" defTabSz="914400">
      <a:buNone/>
      <a:defRPr kern="1200">
        <a:solidFill>
          <a:schemeClr val="tx1"/>
        </a:solidFill>
        <a:latin typeface="Calibri"/>
        <a:ea typeface="Calibri"/>
        <a:cs typeface="Calibri"/>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be8b93428ae4e2a" /><Relationship Type="http://schemas.openxmlformats.org/officeDocument/2006/relationships/slideMaster" Target="/ppt/slideMasters/slideMaster1.xml" Id="Rfaccf4a762054629" /><Relationship Type="http://schemas.openxmlformats.org/officeDocument/2006/relationships/notesMaster" Target="/ppt/notesMasters/notesMaster1.xml" Id="Reb98c47dd6c64387" /><Relationship Type="http://schemas.openxmlformats.org/officeDocument/2006/relationships/presProps" Target="/ppt/presProps.xml" Id="Raf5c0dc764e04164" /><Relationship Type="http://schemas.openxmlformats.org/officeDocument/2006/relationships/viewProps" Target="/ppt/viewProps.xml" Id="R0516b9983fb94655" /><Relationship Type="http://schemas.openxmlformats.org/officeDocument/2006/relationships/tableStyles" Target="/ppt/tableStyles.xml" Id="R15375711aa2c408f" /><Relationship Type="http://schemas.openxmlformats.org/officeDocument/2006/relationships/slide" Target="/ppt/slides/slide1.xml" Id="Rb770d363ace341ff" /><Relationship Type="http://schemas.openxmlformats.org/officeDocument/2006/relationships/slide" Target="/ppt/slides/slide2.xml" Id="R16e115a95f0d45fc" /><Relationship Type="http://schemas.openxmlformats.org/officeDocument/2006/relationships/slide" Target="/ppt/slides/slide3.xml" Id="Rc3d8820463d0400d" /><Relationship Type="http://schemas.openxmlformats.org/officeDocument/2006/relationships/slide" Target="/ppt/slides/slide4.xml" Id="R54ff42f8c58d4b12" /><Relationship Type="http://schemas.openxmlformats.org/officeDocument/2006/relationships/slide" Target="/ppt/slides/slide5.xml" Id="R204ece076fbb4663" /><Relationship Type="http://schemas.openxmlformats.org/officeDocument/2006/relationships/slide" Target="/ppt/slides/slide6.xml" Id="R33f531a3bf4442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91404b4c7b40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SIH Navy and Teal">
      <a:dk1>
        <a:srgbClr val="193047"/>
      </a:dk1>
      <a:lt1>
        <a:srgbClr val="FFFFFF"/>
      </a:lt1>
      <a:dk2>
        <a:srgbClr val="17365D"/>
      </a:dk2>
      <a:lt2>
        <a:srgbClr val="F4F7F9"/>
      </a:lt2>
      <a:accent1>
        <a:srgbClr val="17365D"/>
      </a:accent1>
      <a:accent2>
        <a:srgbClr val="0B716A"/>
      </a:accent2>
      <a:accent3>
        <a:srgbClr val="986216"/>
      </a:accent3>
      <a:accent4>
        <a:srgbClr val="245C91"/>
      </a:accent4>
      <a:accent5>
        <a:srgbClr val="A13434"/>
      </a:accent5>
      <a:accent6>
        <a:srgbClr val="556575"/>
      </a:accent6>
      <a:hlink>
        <a:srgbClr val="245C91"/>
      </a:hlink>
      <a:folHlink>
        <a:srgbClr val="0B716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SIH Navy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2d6cd9ded84785" /><Relationship Type="http://schemas.openxmlformats.org/officeDocument/2006/relationships/notesMaster" Target="/ppt/notesMasters/notesMaster1.xml" Id="Rdc9183e0951146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6e9e0688f843d4" /><Relationship Type="http://schemas.openxmlformats.org/officeDocument/2006/relationships/notesMaster" Target="/ppt/notesMasters/notesMaster1.xml" Id="Rc052b494245843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f30789e4114262" /><Relationship Type="http://schemas.openxmlformats.org/officeDocument/2006/relationships/notesMaster" Target="/ppt/notesMasters/notesMaster1.xml" Id="Ra79ebc06fc0940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8a652585b6427a" /><Relationship Type="http://schemas.openxmlformats.org/officeDocument/2006/relationships/notesMaster" Target="/ppt/notesMasters/notesMaster1.xml" Id="R93f5b9ec4bb149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633b4c3ddb48be" /><Relationship Type="http://schemas.openxmlformats.org/officeDocument/2006/relationships/notesMaster" Target="/ppt/notesMasters/notesMaster1.xml" Id="Rc079ca3011c040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4d57fd9ec24f37" /><Relationship Type="http://schemas.openxmlformats.org/officeDocument/2006/relationships/notesMaster" Target="/ppt/notesMasters/notesMaster1.xml" Id="R0ebd3f6fed5446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 and proposal title: IP-SAKTI_Sahayak_SIH2026_IdeaPPT_Points_included.pptx, slide 1. Problem owner: source slide 6. Registered team metadata supplied by the user: Victor Bytes, Team ID 22345. The full source title is “IP-SAKTI Sahayak: Multilingual RAG-based AI Assistant for IP &amp; Regulatory Guidance in Ayurveda”.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Content basis: supplied IP-SAKTI source deck, slides 2–3. The differentiation is the combination of deterministic regulatory classification, explicit national/international scope, constrained evidence retrieval, citation checks and abstention, followed by multilingual action routing. Similarity retrieval alone does not establish regulatory applicability. The six categories are classical, proprietary, new drug, phytopharmaceutical, Ayurveda-Aahar and cosmetic. A product with unresolved classification or jurisdiction should enter clarification or human review. Source slide 2 treats TKDL as a defensive-knowledge referral and requires consent for paid sources. These are proposed capabilities, not performance claims.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Architecture basis: supplied source deck, slides 2–4. Proposed implementation: Python/FastAPI for backend orchestration, React or Streamlit for the interface, Chroma or pgvector for the vector store, BGE-M3 or multilingual-e5 for embeddings, and BGE-reranker. An open-weight Llama/Qwen-class model runs through LangChain/LlamaIndex. Bhashini and AI4Bharat IndicTrans2 support Hindi and regional language I/O. The language layer translates the query for retrieval and may render explanatory guidance in the user language. The original statute text is preserved. Classification selects one of six proposed categories; the jurisdiction switch constrains the selected national or international market before retrieval. A dated public corpus supplies the evidence. BM25 and dense retrieval, followed by reranking, provide passages for grounded generation. The verifier checks the cited section and support for the generated claim. Valid support permits a cited answer with an as-of date, disclaimer and action links. Missing evidence, unresolved classification or unclear jurisdiction leads to abstention and a proposed referral to an authority or qualified expert. Citation checks alone cannot prove legal correctness.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basis: supplied source deck, slide 4. The proposed hackathon corpus is scoped to two IP regimes, access and benefit sharing (ABS), and two international regimes. The deterministic classifier is configuration-driven rather than an ML training task. Public sources and open-weight models reduce licensing dependence, while hosting, maintenance and domain review remain practical resource requirements. The source highlights fast-changing law, including the Rule 170 issue and 2024 Patent/BD Rules, as reasons for a dated update pipeline; no current legal status is asserted here. TKDL is treated as restricted access, with public classical texts and the public First-Schedule list as permitted alternatives for the public evidence corpus. Citation and support checks should reduce risk, but unresolved cases must withhold a substantive answer and refer the user to a qualified expert or authority. Original statute text remains unchanged even when query and explanatory guidance use translation.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Stakeholder and benefit basis: supplied source deck, slide 5. The source identifies AYUSH startups, MSMEs, practitioners and cultivators, and proposes lower friction for first-level regulatory clarity, traditional-knowledge protection and legitimate commercialisation/export preparation. The displayed benefits are expected outcomes rather than measured results. Proposed evaluation: compare time to an expert-approved next step against manual search on matched tasks; use expert-scored scenario questions in each language to test whether practitioners understand the guidance; compare correct identification of ABS duties before and after a task to assess cultivator awareness. Technical evaluation should also use an expert-labelled question set for classification accuracy and citation validity, with deliberately ambiguous, unsupported and out-of-scope questions to measure unsafe-answer rate and correct escalation. No quantitative benefit or performance target is asserted.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All references below are carried over from IP-SAKTI_Sahayak_SIH2026_IdeaPPT_Points_included.pptx, especially slides 4 and 6.</a:t>
            </a:r>
            <a:endParaRPr/>
          </a:p>
          <a:p xmlns:a="http://schemas.openxmlformats.org/drawingml/2006/main">
            <a:pPr>
              <a:spcBef>
                <a:spcPct val="0"/>
              </a:spcBef>
              <a:buNone/>
            </a:pPr>
            <a:r>
              <a:t/>
            </a:r>
            <a:endParaRPr/>
          </a:p>
          <a:p xmlns:a="http://schemas.openxmlformats.org/drawingml/2006/main">
            <a:pPr>
              <a:spcBef>
                <a:spcPct val="0"/>
              </a:spcBef>
              <a:buNone/>
            </a:pPr>
            <a:r>
              <a:t>DOMAIN SCOPE</a:t>
            </a:r>
            <a:endParaRPr/>
          </a:p>
          <a:p xmlns:a="http://schemas.openxmlformats.org/drawingml/2006/main">
            <a:pPr>
              <a:spcBef>
                <a:spcPct val="0"/>
              </a:spcBef>
              <a:buNone/>
            </a:pPr>
            <a:r>
              <a:t>Ministry of Ayush, SIH 2026 Problem Statement 26045 (named in the source deck).</a:t>
            </a:r>
            <a:endParaRPr/>
          </a:p>
          <a:p xmlns:a="http://schemas.openxmlformats.org/drawingml/2006/main">
            <a:pPr>
              <a:spcBef>
                <a:spcPct val="0"/>
              </a:spcBef>
              <a:buNone/>
            </a:pPr>
            <a:r>
              <a:t/>
            </a:r>
            <a:endParaRPr/>
          </a:p>
          <a:p xmlns:a="http://schemas.openxmlformats.org/drawingml/2006/main">
            <a:pPr>
              <a:spcBef>
                <a:spcPct val="0"/>
              </a:spcBef>
              <a:buNone/>
            </a:pPr>
            <a:r>
              <a:t>INDIAN REGULATORY AND IP EVIDENCE</a:t>
            </a:r>
            <a:endParaRPr/>
          </a:p>
          <a:p xmlns:a="http://schemas.openxmlformats.org/drawingml/2006/main">
            <a:pPr>
              <a:spcBef>
                <a:spcPct val="0"/>
              </a:spcBef>
              <a:buNone/>
            </a:pPr>
            <a:r>
              <a:t>India Code: https://indiacode.nic.in/</a:t>
            </a:r>
            <a:endParaRPr/>
          </a:p>
          <a:p xmlns:a="http://schemas.openxmlformats.org/drawingml/2006/main">
            <a:pPr>
              <a:spcBef>
                <a:spcPct val="0"/>
              </a:spcBef>
              <a:buNone/>
            </a:pPr>
            <a:r>
              <a:t>IP India: https://ipindia.gov.in/</a:t>
            </a:r>
            <a:endParaRPr/>
          </a:p>
          <a:p xmlns:a="http://schemas.openxmlformats.org/drawingml/2006/main">
            <a:pPr>
              <a:spcBef>
                <a:spcPct val="0"/>
              </a:spcBef>
              <a:buNone/>
            </a:pPr>
            <a:r>
              <a:t>CDSCO: https://cdsco.gov.in/</a:t>
            </a:r>
            <a:endParaRPr/>
          </a:p>
          <a:p xmlns:a="http://schemas.openxmlformats.org/drawingml/2006/main">
            <a:pPr>
              <a:spcBef>
                <a:spcPct val="0"/>
              </a:spcBef>
              <a:buNone/>
            </a:pPr>
            <a:r>
              <a:t>FSSAI: https://fssai.gov.in/</a:t>
            </a:r>
            <a:endParaRPr/>
          </a:p>
          <a:p xmlns:a="http://schemas.openxmlformats.org/drawingml/2006/main">
            <a:pPr>
              <a:spcBef>
                <a:spcPct val="0"/>
              </a:spcBef>
              <a:buNone/>
            </a:pPr>
            <a:r>
              <a:t>National Biodiversity Authority / ABS: https://nbaindia.org/</a:t>
            </a:r>
            <a:endParaRPr/>
          </a:p>
          <a:p xmlns:a="http://schemas.openxmlformats.org/drawingml/2006/main">
            <a:pPr>
              <a:spcBef>
                <a:spcPct val="0"/>
              </a:spcBef>
              <a:buNone/>
            </a:pPr>
            <a:r>
              <a:t>The source deck also proposes public classical texts and the public First-Schedule list.</a:t>
            </a:r>
            <a:endParaRPr/>
          </a:p>
          <a:p xmlns:a="http://schemas.openxmlformats.org/drawingml/2006/main">
            <a:pPr>
              <a:spcBef>
                <a:spcPct val="0"/>
              </a:spcBef>
              <a:buNone/>
            </a:pPr>
            <a:r>
              <a:t/>
            </a:r>
            <a:endParaRPr/>
          </a:p>
          <a:p xmlns:a="http://schemas.openxmlformats.org/drawingml/2006/main">
            <a:pPr>
              <a:spcBef>
                <a:spcPct val="0"/>
              </a:spcBef>
              <a:buNone/>
            </a:pPr>
            <a:r>
              <a:t>INTERNATIONAL IP</a:t>
            </a:r>
            <a:endParaRPr/>
          </a:p>
          <a:p xmlns:a="http://schemas.openxmlformats.org/drawingml/2006/main">
            <a:pPr>
              <a:spcBef>
                <a:spcPct val="0"/>
              </a:spcBef>
              <a:buNone/>
            </a:pPr>
            <a:r>
              <a:t>WIPO Lex: https://www.wipo.int/wipolex/</a:t>
            </a:r>
            <a:endParaRPr/>
          </a:p>
          <a:p xmlns:a="http://schemas.openxmlformats.org/drawingml/2006/main">
            <a:pPr>
              <a:spcBef>
                <a:spcPct val="0"/>
              </a:spcBef>
              <a:buNone/>
            </a:pPr>
            <a:r>
              <a:t>WIPO GRATK Treaty: https://www.wipo.int/en/web/treaties/ip/gratk</a:t>
            </a:r>
            <a:endParaRPr/>
          </a:p>
          <a:p xmlns:a="http://schemas.openxmlformats.org/drawingml/2006/main">
            <a:pPr>
              <a:spcBef>
                <a:spcPct val="0"/>
              </a:spcBef>
              <a:buNone/>
            </a:pPr>
            <a:r>
              <a:t/>
            </a:r>
            <a:endParaRPr/>
          </a:p>
          <a:p xmlns:a="http://schemas.openxmlformats.org/drawingml/2006/main">
            <a:pPr>
              <a:spcBef>
                <a:spcPct val="0"/>
              </a:spcBef>
              <a:buNone/>
            </a:pPr>
            <a:r>
              <a:t>TRADITIONAL KNOWLEDGE</a:t>
            </a:r>
            <a:endParaRPr/>
          </a:p>
          <a:p xmlns:a="http://schemas.openxmlformats.org/drawingml/2006/main">
            <a:pPr>
              <a:spcBef>
                <a:spcPct val="0"/>
              </a:spcBef>
              <a:buNone/>
            </a:pPr>
            <a:r>
              <a:t>TKDL: https://www.tkdl.res.in/</a:t>
            </a:r>
            <a:endParaRPr/>
          </a:p>
          <a:p xmlns:a="http://schemas.openxmlformats.org/drawingml/2006/main">
            <a:pPr>
              <a:spcBef>
                <a:spcPct val="0"/>
              </a:spcBef>
              <a:buNone/>
            </a:pPr>
            <a:r>
              <a:t>CSIR: https://www.csir.res.in/</a:t>
            </a:r>
            <a:endParaRPr/>
          </a:p>
          <a:p xmlns:a="http://schemas.openxmlformats.org/drawingml/2006/main">
            <a:pPr>
              <a:spcBef>
                <a:spcPct val="0"/>
              </a:spcBef>
              <a:buNone/>
            </a:pPr>
            <a:r>
              <a:t>The proposal treats TKDL as a defensive-knowledge referral rather than a public retrieval corpus.</a:t>
            </a:r>
            <a:endParaRPr/>
          </a:p>
          <a:p xmlns:a="http://schemas.openxmlformats.org/drawingml/2006/main">
            <a:pPr>
              <a:spcBef>
                <a:spcPct val="0"/>
              </a:spcBef>
              <a:buNone/>
            </a:pPr>
            <a:r>
              <a:t/>
            </a:r>
            <a:endParaRPr/>
          </a:p>
          <a:p xmlns:a="http://schemas.openxmlformats.org/drawingml/2006/main">
            <a:pPr>
              <a:spcBef>
                <a:spcPct val="0"/>
              </a:spcBef>
              <a:buNone/>
            </a:pPr>
            <a:r>
              <a:t>LEGAL AI RELIABILITY</a:t>
            </a:r>
            <a:endParaRPr/>
          </a:p>
          <a:p xmlns:a="http://schemas.openxmlformats.org/drawingml/2006/main">
            <a:pPr>
              <a:spcBef>
                <a:spcPct val="0"/>
              </a:spcBef>
              <a:buNone/>
            </a:pPr>
            <a:r>
              <a:t>Magesh et al., “Hallucination-Free?”, Journal of Empirical Legal Studies, 2025, as cited in the source deck. Research group link supplied in the source: https://reglab.stanford.edu/</a:t>
            </a:r>
            <a:endParaRPr/>
          </a:p>
          <a:p xmlns:a="http://schemas.openxmlformats.org/drawingml/2006/main">
            <a:pPr>
              <a:spcBef>
                <a:spcPct val="0"/>
              </a:spcBef>
              <a:buNone/>
            </a:pPr>
            <a:r>
              <a:t>This reference motivates support checks, citation verification and abstention.</a:t>
            </a:r>
            <a:endParaRPr/>
          </a:p>
          <a:p xmlns:a="http://schemas.openxmlformats.org/drawingml/2006/main">
            <a:pPr>
              <a:spcBef>
                <a:spcPct val="0"/>
              </a:spcBef>
              <a:buNone/>
            </a:pPr>
            <a:r>
              <a:t/>
            </a:r>
            <a:endParaRPr/>
          </a:p>
          <a:p xmlns:a="http://schemas.openxmlformats.org/drawingml/2006/main">
            <a:pPr>
              <a:spcBef>
                <a:spcPct val="0"/>
              </a:spcBef>
              <a:buNone/>
            </a:pPr>
            <a:r>
              <a:t>MULTILINGUAL IMPLEMENTATION</a:t>
            </a:r>
            <a:endParaRPr/>
          </a:p>
          <a:p xmlns:a="http://schemas.openxmlformats.org/drawingml/2006/main">
            <a:pPr>
              <a:spcBef>
                <a:spcPct val="0"/>
              </a:spcBef>
              <a:buNone/>
            </a:pPr>
            <a:r>
              <a:t>AI4Bharat IndicTrans2: https://github.com/AI4Bharat/IndicTrans2</a:t>
            </a:r>
            <a:endParaRPr/>
          </a:p>
          <a:p xmlns:a="http://schemas.openxmlformats.org/drawingml/2006/main">
            <a:pPr>
              <a:spcBef>
                <a:spcPct val="0"/>
              </a:spcBef>
              <a:buNone/>
            </a:pPr>
            <a:r>
              <a:t>Bhashini: https://bhashini.gov.in/</a:t>
            </a:r>
            <a:endParaRPr/>
          </a:p>
          <a:p xmlns:a="http://schemas.openxmlformats.org/drawingml/2006/main">
            <a:pPr>
              <a:spcBef>
                <a:spcPct val="0"/>
              </a:spcBef>
              <a:buNone/>
            </a:pPr>
            <a:r>
              <a:t>The proposed language layer preserves original statutory wording while making queries and explanations accessible in Indian languages.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125a0d1ec943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355a17f89046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6999ae45d34b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a44fad711648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fed70d47ea45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16c560ac0048b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f75210546d8427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5d0fc680671438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c71e5f8e7ff4ba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798aea840ba4b7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18164d20b94460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EE308E-CA30-4DEA-8F0D-7FABB67EFF43}"/>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B15E4B5F-172B-4812-841D-2087D02BED78}"/>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7772492-C0C6-4EE0-8131-4F90C611EE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7DA48569-71B4-4496-B4E3-041778F3D1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70BDF290-3820-441A-A6DB-8130B81A84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E597F5D-ECB7-4499-89B4-35EA2A0F84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2864832-1247-4E11-8F83-5DE354FC435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C5F3A06-10AB-4D4B-BCE6-CF8398D481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63353889-1F4D-4536-B053-3770CDF7B3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6A59C25A-DE19-46A5-A078-90AABC64CA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D9179E-C055-473A-B266-66BDA640CD64}"/>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36FA26F-F1BE-400B-B12E-F85835C0A34C}"/>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D65B1B7-F535-4683-ABC1-AC91B89FFF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1BFEF06C-053D-4D40-BCAC-449CF341BB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BA775F9-B88A-4E89-8B5F-C92474FC36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495C05-D295-4E73-AB96-8B9BA778C2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F9F853A-EF18-497C-BD1D-D7D0849FECD0}"/>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E68206C6-7928-4633-B99B-5B414A80EC6C}"/>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68021E1E-022D-435E-99FA-EA434A10E1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AE258546-E48C-40EE-9F4B-1CD86F0A17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526CEA36-5673-491E-85FA-F53A6A5935E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C0E2BC-4ECE-485C-B9E4-EF875D0170A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5EEAC7F-75F9-445D-9073-3C1B697BA4DE}"/>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6F2A2EC-59A4-4B0B-8206-C06AA13BD73A}"/>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0DBFE8FF-E2D7-46A8-A28F-2A0D2EBCF196}"/>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561D01D-10BB-40CB-8C42-19E598677749}"/>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7E75DCAB-B616-430E-82B6-3A9CFE5A91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F04F7083-AB3C-4D98-93E5-14AB70AB07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28AA3705-CB78-412F-A68E-4D416AAA2B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A8B808B-9696-41BD-AAAD-E33B818CA9A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0697CDCA-C6BC-4EA7-A456-F16A850DEB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80C9B926-64C4-47DA-8F64-8CD07CFE7B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AFA47E82-ED7F-43F9-83E8-63BC953C60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2771A53F-ABEB-467A-8BE0-A139725E74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884AFB62-AE23-40F2-B590-9EB5220628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56B33DE3-78E6-4474-A190-293B7D5D17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51FA53F-9042-40C9-B7D7-C8B00B326387}"/>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0A68379-C792-4390-9DAE-76675046F97B}"/>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3B606DE2-F550-4884-BD81-8B101BBA990F}"/>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04868E62-5222-41D3-89E2-C91B2A5B5E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5418CB6C-5FF9-4156-AD4F-05DEE9A70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2A35A49-E22F-4411-9701-571B151703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DA2885-C4B7-497E-868E-B09DE004B888}"/>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70676AC-A246-48EB-A745-52D8FE2D800F}"/>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39990BE3-E2ED-4E83-B38D-F9FEEB3DAB68}"/>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98E8A6F3-C27A-4D4F-8244-739173ECD9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B08D5140-6717-44A2-BA0E-6B4136499D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633C5881-2FF0-4E9A-9E76-921BE0B81D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62F768-65CF-4541-91E0-2359D630D6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7CB7F5A-6EEC-48BC-ADD4-4EE1CA5C4D8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7608D4E-914E-4569-B4DE-8DE4201CE7F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8CC572FF-C14C-4016-BC38-E33A3F9053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61FCEC9-F909-4867-B01A-9ACAAD130C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48074C6-1EB8-4A4E-85C0-3A0109DB97D1}"/>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747824D-9DE7-441A-9B52-C1EDD2E3E004}"/>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2E820BC-E767-43A6-B57B-7B35A5D057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4410807F-2CAC-4538-9C06-8512B7A98D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A8B9D98-1375-4894-9B53-3C47743677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5fd8aad3cc45e5" /><Relationship Type="http://schemas.openxmlformats.org/officeDocument/2006/relationships/slideLayout" Target="/ppt/slideLayouts/slideLayout1.xml" Id="R7a823c82dfb64ea4" /><Relationship Type="http://schemas.openxmlformats.org/officeDocument/2006/relationships/slideLayout" Target="/ppt/slideLayouts/slideLayout2.xml" Id="R4935fea5d8134c99" /><Relationship Type="http://schemas.openxmlformats.org/officeDocument/2006/relationships/slideLayout" Target="/ppt/slideLayouts/slideLayout3.xml" Id="Ra11376e800be48b7" /><Relationship Type="http://schemas.openxmlformats.org/officeDocument/2006/relationships/slideLayout" Target="/ppt/slideLayouts/slideLayout4.xml" Id="Rd726b8a161b540f4" /><Relationship Type="http://schemas.openxmlformats.org/officeDocument/2006/relationships/slideLayout" Target="/ppt/slideLayouts/slideLayout5.xml" Id="R23d88b7bc15140c6" /><Relationship Type="http://schemas.openxmlformats.org/officeDocument/2006/relationships/slideLayout" Target="/ppt/slideLayouts/slideLayout6.xml" Id="Rcd37671af80f477b" /><Relationship Type="http://schemas.openxmlformats.org/officeDocument/2006/relationships/slideLayout" Target="/ppt/slideLayouts/slideLayout7.xml" Id="R5ddbb42566f64284" /><Relationship Type="http://schemas.openxmlformats.org/officeDocument/2006/relationships/slideLayout" Target="/ppt/slideLayouts/slideLayout8.xml" Id="R9f17b45b975743ea" /><Relationship Type="http://schemas.openxmlformats.org/officeDocument/2006/relationships/slideLayout" Target="/ppt/slideLayouts/slideLayout9.xml" Id="Rc19e07db193445ec" /><Relationship Type="http://schemas.openxmlformats.org/officeDocument/2006/relationships/slideLayout" Target="/ppt/slideLayouts/slideLayout10.xml" Id="Re1f3e5e2b55a4c37" /><Relationship Type="http://schemas.openxmlformats.org/officeDocument/2006/relationships/slideLayout" Target="/ppt/slideLayouts/slideLayout11.xml" Id="Rf4ea55c88d60499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88C46557-BD17-45B5-A99D-1CFEEC2251D5}"/>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F58C8971-93D0-4306-B133-1DABFF5419ED}"/>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FD7A4A6-91E1-49F8-8F14-178CB733AD6E}"/>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B8CE02D5-0A5D-4C82-B2A6-3AFC7A4C228E}"/>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D31CB218-1817-4FF0-A04B-30D99C7AEDE0}"/>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823c82dfb64ea4"/>
    <p:sldLayoutId xmlns:r="http://schemas.openxmlformats.org/officeDocument/2006/relationships" id="2147483650" r:id="R4935fea5d8134c99"/>
    <p:sldLayoutId xmlns:r="http://schemas.openxmlformats.org/officeDocument/2006/relationships" id="2147483651" r:id="Ra11376e800be48b7"/>
    <p:sldLayoutId xmlns:r="http://schemas.openxmlformats.org/officeDocument/2006/relationships" id="2147483652" r:id="Rd726b8a161b540f4"/>
    <p:sldLayoutId xmlns:r="http://schemas.openxmlformats.org/officeDocument/2006/relationships" id="2147483653" r:id="R23d88b7bc15140c6"/>
    <p:sldLayoutId xmlns:r="http://schemas.openxmlformats.org/officeDocument/2006/relationships" id="2147483654" r:id="Rcd37671af80f477b"/>
    <p:sldLayoutId xmlns:r="http://schemas.openxmlformats.org/officeDocument/2006/relationships" id="2147483655" r:id="R5ddbb42566f64284"/>
    <p:sldLayoutId xmlns:r="http://schemas.openxmlformats.org/officeDocument/2006/relationships" id="2147483656" r:id="R9f17b45b975743ea"/>
    <p:sldLayoutId xmlns:r="http://schemas.openxmlformats.org/officeDocument/2006/relationships" id="2147483657" r:id="Rc19e07db193445ec"/>
    <p:sldLayoutId xmlns:r="http://schemas.openxmlformats.org/officeDocument/2006/relationships" id="2147483658" r:id="Re1f3e5e2b55a4c37"/>
    <p:sldLayoutId xmlns:r="http://schemas.openxmlformats.org/officeDocument/2006/relationships" id="2147483659" r:id="Rf4ea55c88d604992"/>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e5b6c77d144ccb" /><Relationship Type="http://schemas.openxmlformats.org/officeDocument/2006/relationships/image" Target="/ppt/media/image.png" Id="R31beb83fb6094d95" /><Relationship Type="http://schemas.openxmlformats.org/officeDocument/2006/relationships/image" Target="/ppt/media/image2.png" Id="R1005520ee02242a6" /><Relationship Type="http://schemas.openxmlformats.org/officeDocument/2006/relationships/notesSlide" Target="/ppt/notesSlides/notesSlide1.xml" Id="R1b3d6cafc3d046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f1d4e84c6804562" /><Relationship Type="http://schemas.openxmlformats.org/officeDocument/2006/relationships/image" Target="/ppt/media/image2.png" Id="R4a6ea43cd3634de1" /><Relationship Type="http://schemas.openxmlformats.org/officeDocument/2006/relationships/notesSlide" Target="/ppt/notesSlides/notesSlide2.xml" Id="R627989dc5e9a41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fda3ed348594c74" /><Relationship Type="http://schemas.openxmlformats.org/officeDocument/2006/relationships/image" Target="/ppt/media/image2.png" Id="R85e60d710b584c3e" /><Relationship Type="http://schemas.openxmlformats.org/officeDocument/2006/relationships/notesSlide" Target="/ppt/notesSlides/notesSlide3.xml" Id="R71d86259799e48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764b5fbe7a74bc8" /><Relationship Type="http://schemas.openxmlformats.org/officeDocument/2006/relationships/image" Target="/ppt/media/image2.png" Id="R5e4d75ee9b7749a7" /><Relationship Type="http://schemas.openxmlformats.org/officeDocument/2006/relationships/notesSlide" Target="/ppt/notesSlides/notesSlide4.xml" Id="R09a2bf7e537448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d6946e8abba4c6f" /><Relationship Type="http://schemas.openxmlformats.org/officeDocument/2006/relationships/image" Target="/ppt/media/image2.png" Id="R7b320d47318e4c35" /><Relationship Type="http://schemas.openxmlformats.org/officeDocument/2006/relationships/notesSlide" Target="/ppt/notesSlides/notesSlide5.xml" Id="R82dbc07e818447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c7466db918940d7" /><Relationship Type="http://schemas.openxmlformats.org/officeDocument/2006/relationships/image" Target="/ppt/media/image2.png" Id="R303349f424ce4bd6" /><Relationship Type="http://schemas.openxmlformats.org/officeDocument/2006/relationships/hyperlink" Target="https://indiacode.nic.in/" TargetMode="External" Id="R21bd30f5b1a54fb6" /><Relationship Type="http://schemas.openxmlformats.org/officeDocument/2006/relationships/hyperlink" Target="https://ipindia.gov.in/" TargetMode="External" Id="Rdbef76608bdb4393" /><Relationship Type="http://schemas.openxmlformats.org/officeDocument/2006/relationships/hyperlink" Target="https://cdsco.gov.in/" TargetMode="External" Id="R36a4aee41f994abe" /><Relationship Type="http://schemas.openxmlformats.org/officeDocument/2006/relationships/hyperlink" Target="https://fssai.gov.in/" TargetMode="External" Id="R2022034e7be349db" /><Relationship Type="http://schemas.openxmlformats.org/officeDocument/2006/relationships/hyperlink" Target="https://nbaindia.org/" TargetMode="External" Id="R212e2efb78f34354" /><Relationship Type="http://schemas.openxmlformats.org/officeDocument/2006/relationships/hyperlink" Target="https://www.wipo.int/wipolex/" TargetMode="External" Id="R68836aa00be14c26" /><Relationship Type="http://schemas.openxmlformats.org/officeDocument/2006/relationships/hyperlink" Target="https://www.wipo.int/en/web/treaties/ip/gratk" TargetMode="External" Id="R8f2532ad18124bd1" /><Relationship Type="http://schemas.openxmlformats.org/officeDocument/2006/relationships/hyperlink" Target="https://www.csir.res.in/" TargetMode="External" Id="R0d64e34a4b934f45" /><Relationship Type="http://schemas.openxmlformats.org/officeDocument/2006/relationships/hyperlink" Target="https://www.tkdl.res.in/" TargetMode="External" Id="R482c362b79724240" /><Relationship Type="http://schemas.openxmlformats.org/officeDocument/2006/relationships/hyperlink" Target="https://reglab.stanford.edu/" TargetMode="External" Id="Re446a11b8e29486a" /><Relationship Type="http://schemas.openxmlformats.org/officeDocument/2006/relationships/hyperlink" Target="https://github.com/AI4Bharat/IndicTrans2" TargetMode="External" Id="Rab9b4a9609fc44ef" /><Relationship Type="http://schemas.openxmlformats.org/officeDocument/2006/relationships/hyperlink" Target="https://bhashini.gov.in/" TargetMode="External" Id="R0f290786a5ea41e3" /><Relationship Type="http://schemas.openxmlformats.org/officeDocument/2006/relationships/notesSlide" Target="/ppt/notesSlides/notesSlide6.xml" Id="R274cd6176c1c4838"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4"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31beb83fb6094d95"/>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61CBA54F-E1E0-4923-B9AC-830AE310B57E}"/>
              </a:ext>
            </a:extLst>
          </p:cNvPr>
          <p:cNvSpPr>
            <a:spLocks xmlns:a="http://schemas.openxmlformats.org/drawingml/2006/main" noGrp="1"/>
          </p:cNvSpPr>
          <p:nvPr>
            <p:ph type="subTitle" idx="1"/>
          </p:nvPr>
        </p:nvSpPr>
        <p:spPr>
          <a:xfrm xmlns:a="http://schemas.openxmlformats.org/drawingml/2006/main">
            <a:off x="428625" y="1524000"/>
            <a:ext cx="6096000" cy="723900"/>
          </a:xfr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825" b="1">
                <a:solidFill>
                  <a:srgbClr val="17365D"/>
                </a:solidFill>
                <a:latin typeface="Arial"/>
                <a:ea typeface="Arial"/>
                <a:cs typeface="Arial"/>
              </a:defRPr>
            </a:pPr>
            <a:r>
              <a:rPr sz="3825" b="1">
                <a:solidFill>
                  <a:srgbClr val="17365D"/>
                </a:solidFill>
                <a:latin typeface="Arial"/>
                <a:ea typeface="Arial"/>
                <a:cs typeface="Arial"/>
              </a:rPr>
              <a:t>IP-SAKTI Sahayak</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87B7AD36-03E1-4270-AC8C-08CDB3E844A9}"/>
              </a:ext>
            </a:extLst>
          </p:cNvPr>
          <p:cNvSpPr>
            <a:spLocks xmlns:a="http://schemas.openxmlformats.org/drawingml/2006/main" noGrp="1"/>
          </p:cNvSpPr>
          <p:nvPr>
            <p:ph type="ctrTitle" idx="0"/>
          </p:nvPr>
        </p:nvSpPr>
        <p:spPr>
          <a:xfrm xmlns:a="http://schemas.openxmlformats.org/drawingml/2006/main">
            <a:off x="409575" y="257175"/>
            <a:ext cx="9172575" cy="676275"/>
          </a:xfrm>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2925" b="1">
                <a:solidFill>
                  <a:srgbClr val="17365D"/>
                </a:solidFill>
                <a:latin typeface="Arial"/>
                <a:ea typeface="Arial"/>
                <a:cs typeface="Arial"/>
              </a:defRPr>
            </a:pPr>
            <a:r>
              <a:rPr sz="2925" b="1">
                <a:solidFill>
                  <a:srgbClr val="17365D"/>
                </a:solidFill>
                <a:latin typeface="Arial"/>
                <a:ea typeface="Arial"/>
                <a:cs typeface="Arial"/>
              </a:rPr>
              <a:t>SMART INDIA HACKATHON 2026</a:t>
            </a:r>
            <a:endParaRPr sz="4000" b="1">
              <a:solidFill>
                <a:schemeClr val="tx2"/>
              </a:solidFill>
              <a:latin typeface="Garamond"/>
              <a:ea typeface="Garamond"/>
              <a:cs typeface="Garamond"/>
            </a:endParaRPr>
          </a:p>
        </p:txBody>
      </p:sp>
      <p:pic>
        <p:nvPicPr>
          <p:cNvPr id="57" name="Picture 1"/>
          <p:cNvPicPr>
            <a:picLocks xmlns:a="http://schemas.openxmlformats.org/drawingml/2006/main" noChangeAspect="1"/>
          </p:cNvPicPr>
          <p:nvPr/>
        </p:nvPicPr>
        <p:blipFill>
          <a:blip xmlns:r="http://schemas.openxmlformats.org/officeDocument/2006/relationships" xmlns:a="http://schemas.openxmlformats.org/drawingml/2006/main" r:embed="R1005520ee02242a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Problem statement title">
            <a:extLst xmlns:a="http://schemas.openxmlformats.org/drawingml/2006/main">
              <a:ext uri="{FF2B5EF4-FFF2-40B4-BE49-F238E27FC236}">
                <a16:creationId xmlns:a16="http://schemas.microsoft.com/office/drawing/2014/main" id="{BC9586DB-86B0-4539-8B68-3FB94EDAACC8}"/>
              </a:ext>
            </a:extLst>
          </p:cNvPr>
          <p:cNvSpPr>
            <a:spLocks xmlns:a="http://schemas.openxmlformats.org/drawingml/2006/main" noGrp="1"/>
          </p:cNvSpPr>
          <p:nvPr/>
        </p:nvSpPr>
        <p:spPr>
          <a:xfrm xmlns:a="http://schemas.openxmlformats.org/drawingml/2006/main">
            <a:off x="438150" y="2409825"/>
            <a:ext cx="61626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93047"/>
                </a:solidFill>
                <a:latin typeface="Arial"/>
                <a:ea typeface="Arial"/>
                <a:cs typeface="Arial"/>
              </a:defRPr>
            </a:pPr>
            <a:r>
              <a:t>Multilingual RAG-based AI Assistant</a:t>
            </a:r>
          </a:p>
          <a:p xmlns:a="http://schemas.openxmlformats.org/drawingml/2006/main">
            <a:pPr algn="l">
              <a:defRPr sz="2175" b="0">
                <a:solidFill>
                  <a:srgbClr val="193047"/>
                </a:solidFill>
                <a:latin typeface="Arial"/>
                <a:ea typeface="Arial"/>
                <a:cs typeface="Arial"/>
              </a:defRPr>
            </a:pPr>
            <a:r>
              <a:t>for IP &amp; Regulatory Guidance</a:t>
            </a:r>
          </a:p>
          <a:p xmlns:a="http://schemas.openxmlformats.org/drawingml/2006/main">
            <a:pPr algn="l">
              <a:defRPr sz="2175" b="0">
                <a:solidFill>
                  <a:srgbClr val="193047"/>
                </a:solidFill>
                <a:latin typeface="Arial"/>
                <a:ea typeface="Arial"/>
                <a:cs typeface="Arial"/>
              </a:defRPr>
            </a:pPr>
            <a:r>
              <a:t>in Ayurveda</a:t>
            </a:r>
          </a:p>
        </p:txBody>
      </p:sp>
      <p:sp>
        <p:nvSpPr>
          <p:cNvPr id="41" name="PS ID label">
            <a:extLst xmlns:a="http://schemas.openxmlformats.org/drawingml/2006/main">
              <a:ext uri="{FF2B5EF4-FFF2-40B4-BE49-F238E27FC236}">
                <a16:creationId xmlns:a16="http://schemas.microsoft.com/office/drawing/2014/main" id="{C90845E0-1584-402D-96C3-CE9CDE1095BE}"/>
              </a:ext>
            </a:extLst>
          </p:cNvPr>
          <p:cNvSpPr>
            <a:spLocks xmlns:a="http://schemas.openxmlformats.org/drawingml/2006/main" noGrp="1"/>
          </p:cNvSpPr>
          <p:nvPr/>
        </p:nvSpPr>
        <p:spPr>
          <a:xfrm xmlns:a="http://schemas.openxmlformats.org/drawingml/2006/main">
            <a:off x="438150" y="387667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56575"/>
                </a:solidFill>
                <a:latin typeface="Arial"/>
                <a:ea typeface="Arial"/>
                <a:cs typeface="Arial"/>
              </a:defRPr>
            </a:pPr>
            <a:r>
              <a:t>PROBLEM STATEMENT ID</a:t>
            </a:r>
          </a:p>
        </p:txBody>
      </p:sp>
      <p:sp>
        <p:nvSpPr>
          <p:cNvPr id="42" name="PS ID">
            <a:extLst xmlns:a="http://schemas.openxmlformats.org/drawingml/2006/main">
              <a:ext uri="{FF2B5EF4-FFF2-40B4-BE49-F238E27FC236}">
                <a16:creationId xmlns:a16="http://schemas.microsoft.com/office/drawing/2014/main" id="{54EC3E92-AADB-4C20-9205-4654B9F440AE}"/>
              </a:ext>
            </a:extLst>
          </p:cNvPr>
          <p:cNvSpPr>
            <a:spLocks xmlns:a="http://schemas.openxmlformats.org/drawingml/2006/main" noGrp="1"/>
          </p:cNvSpPr>
          <p:nvPr/>
        </p:nvSpPr>
        <p:spPr>
          <a:xfrm xmlns:a="http://schemas.openxmlformats.org/drawingml/2006/main">
            <a:off x="428625" y="41719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B716A"/>
                </a:solidFill>
                <a:latin typeface="Arial"/>
                <a:ea typeface="Arial"/>
                <a:cs typeface="Arial"/>
              </a:defRPr>
            </a:pPr>
            <a:r>
              <a:t>SIH26045</a:t>
            </a:r>
          </a:p>
        </p:txBody>
      </p:sp>
      <p:sp>
        <p:nvSpPr>
          <p:cNvPr id="43" name="Theme label">
            <a:extLst xmlns:a="http://schemas.openxmlformats.org/drawingml/2006/main">
              <a:ext uri="{FF2B5EF4-FFF2-40B4-BE49-F238E27FC236}">
                <a16:creationId xmlns:a16="http://schemas.microsoft.com/office/drawing/2014/main" id="{E462F281-525E-47B9-9981-59EABF240959}"/>
              </a:ext>
            </a:extLst>
          </p:cNvPr>
          <p:cNvSpPr>
            <a:spLocks xmlns:a="http://schemas.openxmlformats.org/drawingml/2006/main" noGrp="1"/>
          </p:cNvSpPr>
          <p:nvPr/>
        </p:nvSpPr>
        <p:spPr>
          <a:xfrm xmlns:a="http://schemas.openxmlformats.org/drawingml/2006/main">
            <a:off x="438150" y="4838700"/>
            <a:ext cx="295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56575"/>
                </a:solidFill>
                <a:latin typeface="Arial"/>
                <a:ea typeface="Arial"/>
                <a:cs typeface="Arial"/>
              </a:defRPr>
            </a:pPr>
            <a:r>
              <a:t>THEME</a:t>
            </a:r>
          </a:p>
        </p:txBody>
      </p:sp>
      <p:sp>
        <p:nvSpPr>
          <p:cNvPr id="44" name="Theme">
            <a:extLst xmlns:a="http://schemas.openxmlformats.org/drawingml/2006/main">
              <a:ext uri="{FF2B5EF4-FFF2-40B4-BE49-F238E27FC236}">
                <a16:creationId xmlns:a16="http://schemas.microsoft.com/office/drawing/2014/main" id="{FA2D592D-E075-4036-BD4F-099C9BF736A8}"/>
              </a:ext>
            </a:extLst>
          </p:cNvPr>
          <p:cNvSpPr>
            <a:spLocks xmlns:a="http://schemas.openxmlformats.org/drawingml/2006/main" noGrp="1"/>
          </p:cNvSpPr>
          <p:nvPr/>
        </p:nvSpPr>
        <p:spPr>
          <a:xfrm xmlns:a="http://schemas.openxmlformats.org/drawingml/2006/main">
            <a:off x="438150" y="512445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93047"/>
                </a:solidFill>
                <a:latin typeface="Arial"/>
                <a:ea typeface="Arial"/>
                <a:cs typeface="Arial"/>
              </a:defRPr>
            </a:pPr>
            <a:r>
              <a:t>MedTech / BioTech / HealthTech</a:t>
            </a:r>
          </a:p>
        </p:txBody>
      </p:sp>
      <p:sp>
        <p:nvSpPr>
          <p:cNvPr id="45" name="Category label">
            <a:extLst xmlns:a="http://schemas.openxmlformats.org/drawingml/2006/main">
              <a:ext uri="{FF2B5EF4-FFF2-40B4-BE49-F238E27FC236}">
                <a16:creationId xmlns:a16="http://schemas.microsoft.com/office/drawing/2014/main" id="{18DF28F9-A07E-437A-B02C-3CB7E120B204}"/>
              </a:ext>
            </a:extLst>
          </p:cNvPr>
          <p:cNvSpPr>
            <a:spLocks xmlns:a="http://schemas.openxmlformats.org/drawingml/2006/main" noGrp="1"/>
          </p:cNvSpPr>
          <p:nvPr/>
        </p:nvSpPr>
        <p:spPr>
          <a:xfrm xmlns:a="http://schemas.openxmlformats.org/drawingml/2006/main">
            <a:off x="438150" y="5572125"/>
            <a:ext cx="1857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56575"/>
                </a:solidFill>
                <a:latin typeface="Arial"/>
                <a:ea typeface="Arial"/>
                <a:cs typeface="Arial"/>
              </a:defRPr>
            </a:pPr>
            <a:r>
              <a:t>PS CATEGORY</a:t>
            </a:r>
          </a:p>
        </p:txBody>
      </p:sp>
      <p:sp>
        <p:nvSpPr>
          <p:cNvPr id="46" name="Category">
            <a:extLst xmlns:a="http://schemas.openxmlformats.org/drawingml/2006/main">
              <a:ext uri="{FF2B5EF4-FFF2-40B4-BE49-F238E27FC236}">
                <a16:creationId xmlns:a16="http://schemas.microsoft.com/office/drawing/2014/main" id="{068E8D9B-2362-42EF-A03F-6BF4D54B8278}"/>
              </a:ext>
            </a:extLst>
          </p:cNvPr>
          <p:cNvSpPr>
            <a:spLocks xmlns:a="http://schemas.openxmlformats.org/drawingml/2006/main" noGrp="1"/>
          </p:cNvSpPr>
          <p:nvPr/>
        </p:nvSpPr>
        <p:spPr>
          <a:xfrm xmlns:a="http://schemas.openxmlformats.org/drawingml/2006/main">
            <a:off x="438150" y="5857875"/>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93047"/>
                </a:solidFill>
                <a:latin typeface="Arial"/>
                <a:ea typeface="Arial"/>
                <a:cs typeface="Arial"/>
              </a:defRPr>
            </a:pPr>
            <a:r>
              <a:t>Software</a:t>
            </a:r>
          </a:p>
        </p:txBody>
      </p:sp>
      <p:sp>
        <p:nvSpPr>
          <p:cNvPr id="47" name="Team name label">
            <a:extLst xmlns:a="http://schemas.openxmlformats.org/drawingml/2006/main">
              <a:ext uri="{FF2B5EF4-FFF2-40B4-BE49-F238E27FC236}">
                <a16:creationId xmlns:a16="http://schemas.microsoft.com/office/drawing/2014/main" id="{080F29D9-7F66-4176-BABF-00A1ADD5052B}"/>
              </a:ext>
            </a:extLst>
          </p:cNvPr>
          <p:cNvSpPr>
            <a:spLocks xmlns:a="http://schemas.openxmlformats.org/drawingml/2006/main" noGrp="1"/>
          </p:cNvSpPr>
          <p:nvPr/>
        </p:nvSpPr>
        <p:spPr>
          <a:xfrm xmlns:a="http://schemas.openxmlformats.org/drawingml/2006/main">
            <a:off x="2447925" y="5572125"/>
            <a:ext cx="214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56575"/>
                </a:solidFill>
                <a:latin typeface="Arial"/>
                <a:ea typeface="Arial"/>
                <a:cs typeface="Arial"/>
              </a:defRPr>
            </a:pPr>
            <a:r>
              <a:t>TEAM NAME</a:t>
            </a:r>
          </a:p>
        </p:txBody>
      </p:sp>
      <p:sp>
        <p:nvSpPr>
          <p:cNvPr id="48" name="Team name">
            <a:extLst xmlns:a="http://schemas.openxmlformats.org/drawingml/2006/main">
              <a:ext uri="{FF2B5EF4-FFF2-40B4-BE49-F238E27FC236}">
                <a16:creationId xmlns:a16="http://schemas.microsoft.com/office/drawing/2014/main" id="{210B2C06-ECFC-4E3A-9BFC-0BEC91C0AF04}"/>
              </a:ext>
            </a:extLst>
          </p:cNvPr>
          <p:cNvSpPr>
            <a:spLocks xmlns:a="http://schemas.openxmlformats.org/drawingml/2006/main" noGrp="1"/>
          </p:cNvSpPr>
          <p:nvPr/>
        </p:nvSpPr>
        <p:spPr>
          <a:xfrm xmlns:a="http://schemas.openxmlformats.org/drawingml/2006/main">
            <a:off x="2447925" y="58578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93047"/>
                </a:solidFill>
                <a:latin typeface="Arial"/>
                <a:ea typeface="Arial"/>
                <a:cs typeface="Arial"/>
              </a:defRPr>
            </a:pPr>
            <a:r>
              <a:t>Victor Bytes</a:t>
            </a:r>
          </a:p>
        </p:txBody>
      </p:sp>
      <p:sp>
        <p:nvSpPr>
          <p:cNvPr id="49" name="Team ID label">
            <a:extLst xmlns:a="http://schemas.openxmlformats.org/drawingml/2006/main">
              <a:ext uri="{FF2B5EF4-FFF2-40B4-BE49-F238E27FC236}">
                <a16:creationId xmlns:a16="http://schemas.microsoft.com/office/drawing/2014/main" id="{1997C7C2-6BA3-43AE-B305-1E060D87A6A9}"/>
              </a:ext>
            </a:extLst>
          </p:cNvPr>
          <p:cNvSpPr>
            <a:spLocks xmlns:a="http://schemas.openxmlformats.org/drawingml/2006/main" noGrp="1"/>
          </p:cNvSpPr>
          <p:nvPr/>
        </p:nvSpPr>
        <p:spPr>
          <a:xfrm xmlns:a="http://schemas.openxmlformats.org/drawingml/2006/main">
            <a:off x="5057775" y="5572125"/>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56575"/>
                </a:solidFill>
                <a:latin typeface="Arial"/>
                <a:ea typeface="Arial"/>
                <a:cs typeface="Arial"/>
              </a:defRPr>
            </a:pPr>
            <a:r>
              <a:t>TEAM ID</a:t>
            </a:r>
          </a:p>
        </p:txBody>
      </p:sp>
      <p:sp>
        <p:nvSpPr>
          <p:cNvPr id="50" name="Team ID">
            <a:extLst xmlns:a="http://schemas.openxmlformats.org/drawingml/2006/main">
              <a:ext uri="{FF2B5EF4-FFF2-40B4-BE49-F238E27FC236}">
                <a16:creationId xmlns:a16="http://schemas.microsoft.com/office/drawing/2014/main" id="{41DD73F3-3C4F-4950-AE02-E04869DAB35A}"/>
              </a:ext>
            </a:extLst>
          </p:cNvPr>
          <p:cNvSpPr>
            <a:spLocks xmlns:a="http://schemas.openxmlformats.org/drawingml/2006/main" noGrp="1"/>
          </p:cNvSpPr>
          <p:nvPr/>
        </p:nvSpPr>
        <p:spPr>
          <a:xfrm xmlns:a="http://schemas.openxmlformats.org/drawingml/2006/main">
            <a:off x="5057775" y="585787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93047"/>
                </a:solidFill>
                <a:latin typeface="Arial"/>
                <a:ea typeface="Arial"/>
                <a:cs typeface="Arial"/>
              </a:defRPr>
            </a:pPr>
            <a:r>
              <a:t>22345</a:t>
            </a:r>
          </a:p>
        </p:txBody>
      </p:sp>
      <p:sp>
        <p:nvSpPr>
          <p:cNvPr id="51" name="Problem owner">
            <a:extLst xmlns:a="http://schemas.openxmlformats.org/drawingml/2006/main">
              <a:ext uri="{FF2B5EF4-FFF2-40B4-BE49-F238E27FC236}">
                <a16:creationId xmlns:a16="http://schemas.microsoft.com/office/drawing/2014/main" id="{BD92C1D7-895F-4D8F-973B-E790DB5CFA55}"/>
              </a:ext>
            </a:extLst>
          </p:cNvPr>
          <p:cNvSpPr>
            <a:spLocks xmlns:a="http://schemas.openxmlformats.org/drawingml/2006/main" noGrp="1"/>
          </p:cNvSpPr>
          <p:nvPr/>
        </p:nvSpPr>
        <p:spPr>
          <a:xfrm xmlns:a="http://schemas.openxmlformats.org/drawingml/2006/main">
            <a:off x="438150" y="6448425"/>
            <a:ext cx="590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56575"/>
                </a:solidFill>
                <a:latin typeface="Arial"/>
                <a:ea typeface="Arial"/>
                <a:cs typeface="Arial"/>
              </a:defRPr>
            </a:pPr>
            <a:r>
              <a:t>Problem owner: Ministry of Ayush</a:t>
            </a:r>
          </a:p>
        </p:txBody>
      </p:sp>
    </p:spTree>
    <p:extLst>
      <p:ext uri="{BB962C8B-B14F-4D97-AF65-F5344CB8AC3E}">
        <p14:creationId xmlns:p14="http://schemas.microsoft.com/office/powerpoint/2010/main" val="13124449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1A569FDC-8296-4C31-B825-69E411E4517B}"/>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7365D"/>
          </a:solidFill>
          <a:ln xmlns:a="http://schemas.openxmlformats.org/drawingml/2006/main" w="0">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8A82BC41-4A18-4026-9EB3-55A1D046FC50}"/>
              </a:ext>
            </a:extLst>
          </p:cNvPr>
          <p:cNvSpPr>
            <a:spLocks xmlns:a="http://schemas.openxmlformats.org/drawingml/2006/main" noGrp="1"/>
          </p:cNvSpPr>
          <p:nvPr>
            <p:ph type="title" idx="0"/>
          </p:nvPr>
        </p:nvSpPr>
        <p:spPr>
          <a:xfrm xmlns:a="http://schemas.openxmlformats.org/drawingml/2006/main">
            <a:off x="1828800" y="323850"/>
            <a:ext cx="7867650" cy="609600"/>
          </a:xfrm>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3000" b="1">
                <a:solidFill>
                  <a:srgbClr val="17365D"/>
                </a:solidFill>
                <a:latin typeface="Arial"/>
                <a:ea typeface="Arial"/>
                <a:cs typeface="Arial"/>
              </a:defRPr>
            </a:pPr>
            <a:r>
              <a:rPr sz="3000" b="1">
                <a:solidFill>
                  <a:srgbClr val="17365D"/>
                </a:solidFill>
                <a:latin typeface="Arial"/>
                <a:ea typeface="Arial"/>
                <a:cs typeface="Arial"/>
              </a:rPr>
              <a:t>PROPOSED SOLUTION</a:t>
            </a:r>
          </a:p>
        </p:txBody>
      </p:sp>
      <p:sp>
        <p:nvSpPr>
          <p:cNvPr id="6" name="Slide Number Placeholder 5">
            <a:extLst xmlns:a="http://schemas.openxmlformats.org/drawingml/2006/main">
              <a:ext uri="{FF2B5EF4-FFF2-40B4-BE49-F238E27FC236}">
                <a16:creationId xmlns:a16="http://schemas.microsoft.com/office/drawing/2014/main" id="{229509FA-08F6-4FEA-B6FD-9F9037E52B4D}"/>
              </a:ext>
            </a:extLst>
          </p:cNvPr>
          <p:cNvSpPr>
            <a:spLocks xmlns:a="http://schemas.openxmlformats.org/drawingml/2006/main" noGrp="1"/>
          </p:cNvSpPr>
          <p:nvPr>
            <p:ph type="sldNum" idx="12"/>
          </p:nvPr>
        </p:nvSpPr>
        <p:spPr>
          <a:xfrm xmlns:a="http://schemas.openxmlformats.org/drawingml/2006/main">
            <a:off x="10953750" y="6391275"/>
            <a:ext cx="619125" cy="333375"/>
          </a:xfrm>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1200" b="1">
                <a:solidFill>
                  <a:srgbClr val="FFFFFF"/>
                </a:solidFill>
                <a:latin typeface="Arial"/>
                <a:ea typeface="Arial"/>
                <a:cs typeface="Arial"/>
              </a:defRPr>
            </a:pPr>
            <a:fld id="{E2598689-54C9-18A7-3A19-ED76AA08988F}" type="slidenum">
              <a:rPr sz="1200"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90CC25D7-C627-401B-AEE8-72B4BC010942}"/>
              </a:ext>
            </a:extLst>
          </p:cNvPr>
          <p:cNvSpPr>
            <a:spLocks xmlns:a="http://schemas.openxmlformats.org/drawingml/2006/main" noGrp="1"/>
          </p:cNvSpPr>
          <p:nvPr>
            <p:ph type="ftr" idx="11"/>
          </p:nvPr>
        </p:nvSpPr>
        <p:spPr>
          <a:xfrm xmlns:a="http://schemas.openxmlformats.org/drawingml/2006/main">
            <a:off x="4257675" y="6391275"/>
            <a:ext cx="3914775" cy="333375"/>
          </a:xfrm>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163" b="0">
                <a:solidFill>
                  <a:srgbClr val="FFFFFF"/>
                </a:solidFill>
                <a:latin typeface="Arial"/>
                <a:ea typeface="Arial"/>
                <a:cs typeface="Arial"/>
              </a:defRPr>
            </a:pPr>
            <a:r>
              <a:rPr sz="1163" b="0">
                <a:solidFill>
                  <a:srgbClr val="FFFFFF"/>
                </a:solidFill>
                <a:latin typeface="Arial"/>
                <a:ea typeface="Arial"/>
                <a:cs typeface="Aria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FFFFFF"/>
          </a:solidFill>
          <a:ln xmlns:a="http://schemas.openxmlformats.org/drawingml/2006/main" w="15240">
            <a:solidFill>
              <a:srgbClr val="17365D"/>
            </a:solidFill>
            <a:prstDash val="solid"/>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5000"/>
              </a:lnSpc>
              <a:buNone/>
              <a:defRPr sz="1725" b="1">
                <a:solidFill>
                  <a:srgbClr val="17365D"/>
                </a:solidFill>
                <a:latin typeface="Arial"/>
                <a:ea typeface="Arial"/>
                <a:cs typeface="Arial"/>
              </a:defRPr>
            </a:pPr>
            <a:r>
              <a:rPr sz="1725" b="1">
                <a:solidFill>
                  <a:srgbClr val="17365D"/>
                </a:solidFill>
                <a:latin typeface="Arial"/>
                <a:ea typeface="Arial"/>
                <a:cs typeface="Arial"/>
              </a:rPr>
              <a:t>Victor</a:t>
            </a:r>
            <a:endParaRPr/>
          </a:p>
          <a:p xmlns:a="http://schemas.openxmlformats.org/drawingml/2006/main">
            <a:pPr algn="ctr">
              <a:lnSpc>
                <a:spcPct val="105000"/>
              </a:lnSpc>
              <a:buNone/>
              <a:defRPr sz="1725" b="1">
                <a:solidFill>
                  <a:srgbClr val="17365D"/>
                </a:solidFill>
                <a:latin typeface="Arial"/>
                <a:ea typeface="Arial"/>
                <a:cs typeface="Arial"/>
              </a:defRPr>
            </a:pPr>
            <a:r>
              <a:rPr sz="1725" b="1">
                <a:solidFill>
                  <a:srgbClr val="17365D"/>
                </a:solidFill>
                <a:latin typeface="Arial"/>
                <a:ea typeface="Arial"/>
                <a:cs typeface="Arial"/>
              </a:rPr>
              <a:t>Bytes</a:t>
            </a:r>
            <a:endParaRPr/>
          </a:p>
        </p:txBody>
      </p:sp>
      <p:pic>
        <p:nvPicPr>
          <p:cNvPr id="15375" name="Picture 10"/>
          <p:cNvPicPr>
            <a:picLocks xmlns:a="http://schemas.openxmlformats.org/drawingml/2006/main" noChangeAspect="1"/>
          </p:cNvPicPr>
          <p:nvPr/>
        </p:nvPicPr>
        <p:blipFill>
          <a:blip xmlns:r="http://schemas.openxmlformats.org/officeDocument/2006/relationships" xmlns:a="http://schemas.openxmlformats.org/drawingml/2006/main" r:embed="R4a6ea43cd3634de1"/>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Solution premise">
            <a:extLst xmlns:a="http://schemas.openxmlformats.org/drawingml/2006/main">
              <a:ext uri="{FF2B5EF4-FFF2-40B4-BE49-F238E27FC236}">
                <a16:creationId xmlns:a16="http://schemas.microsoft.com/office/drawing/2014/main" id="{EE9592E9-8B10-4D5D-9F9C-8D873C15CFBC}"/>
              </a:ext>
            </a:extLst>
          </p:cNvPr>
          <p:cNvSpPr>
            <a:spLocks xmlns:a="http://schemas.openxmlformats.org/drawingml/2006/main" noGrp="1"/>
          </p:cNvSpPr>
          <p:nvPr/>
        </p:nvSpPr>
        <p:spPr>
          <a:xfrm xmlns:a="http://schemas.openxmlformats.org/drawingml/2006/main">
            <a:off x="419100" y="1371600"/>
            <a:ext cx="11325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65D"/>
                </a:solidFill>
                <a:latin typeface="Arial"/>
                <a:ea typeface="Arial"/>
                <a:cs typeface="Arial"/>
              </a:defRPr>
            </a:pPr>
            <a:r>
              <a:t>Regulatory identity and jurisdiction govern every answer</a:t>
            </a:r>
          </a:p>
        </p:txBody>
      </p:sp>
      <p:sp>
        <p:nvSpPr>
          <p:cNvPr id="15365" name="Generic RAG limit">
            <a:extLst xmlns:a="http://schemas.openxmlformats.org/drawingml/2006/main">
              <a:ext uri="{FF2B5EF4-FFF2-40B4-BE49-F238E27FC236}">
                <a16:creationId xmlns:a16="http://schemas.microsoft.com/office/drawing/2014/main" id="{CCFF3823-1DFD-40A5-BB2B-B6F03657A1E3}"/>
              </a:ext>
            </a:extLst>
          </p:cNvPr>
          <p:cNvSpPr>
            <a:spLocks xmlns:a="http://schemas.openxmlformats.org/drawingml/2006/main" noGrp="1"/>
          </p:cNvSpPr>
          <p:nvPr/>
        </p:nvSpPr>
        <p:spPr>
          <a:xfrm xmlns:a="http://schemas.openxmlformats.org/drawingml/2006/main">
            <a:off x="419100" y="1828800"/>
            <a:ext cx="113252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56575"/>
                </a:solidFill>
                <a:latin typeface="Arial"/>
                <a:ea typeface="Arial"/>
                <a:cs typeface="Arial"/>
              </a:defRPr>
            </a:pPr>
            <a:r>
              <a:t>Ordinary search, chat and RAG do not by themselves decide which rule applies.</a:t>
            </a:r>
          </a:p>
        </p:txBody>
      </p:sp>
      <p:graphicFrame>
        <p:nvGraphicFramePr>
          <p:cNvPr id="15378" name="Capability rationale"/>
          <p:cNvGraphicFramePr/>
          <p:nvPr/>
        </p:nvGraphicFramePr>
        <p:xfrm>
          <a:off xmlns:a="http://schemas.openxmlformats.org/drawingml/2006/main" x="419100" y="2276475"/>
          <a:ext xmlns:a="http://schemas.openxmlformats.org/drawingml/2006/main" cx="11353800" cy="2971800"/>
        </p:xfrm>
        <a:graphic xmlns:a="http://schemas.openxmlformats.org/drawingml/2006/main">
          <a:graphicData uri="http://schemas.openxmlformats.org/drawingml/2006/table">
            <a:tbl>
              <a:tblPr firstRow="0" firstCol="0" lastRow="0" lastCol="0" bandRow="0" bandCol="0"/>
              <a:tblGrid>
                <a:gridCol w="3152775"/>
                <a:gridCol w="4086225"/>
                <a:gridCol w="4114800"/>
              </a:tblGrid>
              <a:tr h="381000">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What remains unresolved</a:t>
                      </a:r>
                    </a:p>
                  </a:txBody>
                  <a:tcPr marL="133350" marR="133350" marT="76200" marB="76200" anchor="ctr">
                    <a:lnL w="0">
                      <a:solidFill>
                        <a:srgbClr val="17365D"/>
                      </a:solidFill>
                    </a:lnL>
                    <a:lnR w="0">
                      <a:solidFill>
                        <a:srgbClr val="17365D"/>
                      </a:solidFill>
                    </a:lnR>
                    <a:lnT w="0">
                      <a:solidFill>
                        <a:srgbClr val="17365D"/>
                      </a:solidFill>
                    </a:lnT>
                    <a:lnB w="0">
                      <a:solidFill>
                        <a:srgbClr val="17365D"/>
                      </a:solidFill>
                    </a:lnB>
                    <a:solidFill>
                      <a:srgbClr val="17365D"/>
                    </a:solidFill>
                  </a:tcPr>
                </a:tc>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IP-SAKTI capability</a:t>
                      </a:r>
                    </a:p>
                  </a:txBody>
                  <a:tcPr marL="133350" marR="133350" marT="76200" marB="76200" anchor="ctr">
                    <a:lnL w="0">
                      <a:solidFill>
                        <a:srgbClr val="17365D"/>
                      </a:solidFill>
                    </a:lnL>
                    <a:lnR w="0">
                      <a:solidFill>
                        <a:srgbClr val="17365D"/>
                      </a:solidFill>
                    </a:lnR>
                    <a:lnT w="0">
                      <a:solidFill>
                        <a:srgbClr val="17365D"/>
                      </a:solidFill>
                    </a:lnT>
                    <a:lnB w="0">
                      <a:solidFill>
                        <a:srgbClr val="17365D"/>
                      </a:solidFill>
                    </a:lnB>
                    <a:solidFill>
                      <a:srgbClr val="17365D"/>
                    </a:solidFill>
                  </a:tcPr>
                </a:tc>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Why it exists</a:t>
                      </a:r>
                    </a:p>
                  </a:txBody>
                  <a:tcPr marL="133350" marR="133350" marT="76200" marB="76200" anchor="ctr">
                    <a:lnL w="0">
                      <a:solidFill>
                        <a:srgbClr val="0B716A"/>
                      </a:solidFill>
                    </a:lnL>
                    <a:lnR w="0">
                      <a:solidFill>
                        <a:srgbClr val="0B716A"/>
                      </a:solidFill>
                    </a:lnR>
                    <a:lnT w="0">
                      <a:solidFill>
                        <a:srgbClr val="0B716A"/>
                      </a:solidFill>
                    </a:lnT>
                    <a:lnB w="0">
                      <a:solidFill>
                        <a:srgbClr val="0B716A"/>
                      </a:solidFill>
                    </a:lnB>
                    <a:solidFill>
                      <a:srgbClr val="0B716A"/>
                    </a:solidFill>
                  </a:tcPr>
                </a:tc>
              </a:tr>
              <a:tr h="647700">
                <a:tc>
                  <a:txBody>
                    <a:bodyPr wrap="square" lIns="133350" tIns="76200" rIns="133350" bIns="76200">
                      <a:noAutofit/>
                    </a:bodyPr>
                    <a:lstStyle/>
                    <a:p>
                      <a:pPr algn="l">
                        <a:lnSpc>
                          <a:spcPct val="102000"/>
                        </a:lnSpc>
                        <a:buNone/>
                      </a:pPr>
                      <a:r>
                        <a:rPr sz="1650" b="0">
                          <a:solidFill>
                            <a:srgbClr val="193047"/>
                          </a:solidFill>
                          <a:latin typeface="Arial"/>
                          <a:ea typeface="Arial"/>
                          <a:cs typeface="Arial"/>
                        </a:rPr>
                        <a:t>Unclear product identity</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650" b="1">
                          <a:solidFill>
                            <a:srgbClr val="193047"/>
                          </a:solidFill>
                          <a:latin typeface="Arial"/>
                          <a:ea typeface="Arial"/>
                          <a:cs typeface="Arial"/>
                        </a:rPr>
                        <a:t>Deterministic</a:t>
                      </a:r>
                    </a:p>
                    <a:p>
                      <a:pPr algn="l">
                        <a:lnSpc>
                          <a:spcPct val="102000"/>
                        </a:lnSpc>
                        <a:buNone/>
                      </a:pPr>
                      <a:r>
                        <a:rPr sz="1650" b="1">
                          <a:solidFill>
                            <a:srgbClr val="193047"/>
                          </a:solidFill>
                          <a:latin typeface="Arial"/>
                          <a:ea typeface="Arial"/>
                          <a:cs typeface="Arial"/>
                        </a:rPr>
                        <a:t>6-category classifier</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650" b="0">
                          <a:solidFill>
                            <a:srgbClr val="0B716A"/>
                          </a:solidFill>
                          <a:latin typeface="Arial"/>
                          <a:ea typeface="Arial"/>
                          <a:cs typeface="Arial"/>
                        </a:rPr>
                        <a:t>Select the right</a:t>
                      </a:r>
                    </a:p>
                    <a:p>
                      <a:pPr algn="l">
                        <a:lnSpc>
                          <a:spcPct val="102000"/>
                        </a:lnSpc>
                        <a:buNone/>
                      </a:pPr>
                      <a:r>
                        <a:rPr sz="1650" b="0">
                          <a:solidFill>
                            <a:srgbClr val="0B716A"/>
                          </a:solidFill>
                          <a:latin typeface="Arial"/>
                          <a:ea typeface="Arial"/>
                          <a:cs typeface="Arial"/>
                        </a:rPr>
                        <a:t>regulatory route</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r>
              <a:tr h="647700">
                <a:tc>
                  <a:txBody>
                    <a:bodyPr wrap="square" lIns="133350" tIns="76200" rIns="133350" bIns="76200">
                      <a:noAutofit/>
                    </a:bodyPr>
                    <a:lstStyle/>
                    <a:p>
                      <a:pPr algn="l">
                        <a:lnSpc>
                          <a:spcPct val="102000"/>
                        </a:lnSpc>
                        <a:buNone/>
                      </a:pPr>
                      <a:r>
                        <a:rPr sz="1650" b="0">
                          <a:solidFill>
                            <a:srgbClr val="193047"/>
                          </a:solidFill>
                          <a:latin typeface="Arial"/>
                          <a:ea typeface="Arial"/>
                          <a:cs typeface="Arial"/>
                        </a:rPr>
                        <a:t>Rules differ across markets</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650" b="1">
                          <a:solidFill>
                            <a:srgbClr val="193047"/>
                          </a:solidFill>
                          <a:latin typeface="Arial"/>
                          <a:ea typeface="Arial"/>
                          <a:cs typeface="Arial"/>
                        </a:rPr>
                        <a:t>National / International</a:t>
                      </a:r>
                    </a:p>
                    <a:p>
                      <a:pPr algn="l">
                        <a:lnSpc>
                          <a:spcPct val="102000"/>
                        </a:lnSpc>
                        <a:buNone/>
                      </a:pPr>
                      <a:r>
                        <a:rPr sz="1650" b="1">
                          <a:solidFill>
                            <a:srgbClr val="193047"/>
                          </a:solidFill>
                          <a:latin typeface="Arial"/>
                          <a:ea typeface="Arial"/>
                          <a:cs typeface="Arial"/>
                        </a:rPr>
                        <a:t>jurisdiction filter</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650" b="0">
                          <a:solidFill>
                            <a:srgbClr val="0B716A"/>
                          </a:solidFill>
                          <a:latin typeface="Arial"/>
                          <a:ea typeface="Arial"/>
                          <a:cs typeface="Arial"/>
                        </a:rPr>
                        <a:t>Keep the answer within</a:t>
                      </a:r>
                    </a:p>
                    <a:p>
                      <a:pPr algn="l">
                        <a:lnSpc>
                          <a:spcPct val="102000"/>
                        </a:lnSpc>
                        <a:buNone/>
                      </a:pPr>
                      <a:r>
                        <a:rPr sz="1650" b="0">
                          <a:solidFill>
                            <a:srgbClr val="0B716A"/>
                          </a:solidFill>
                          <a:latin typeface="Arial"/>
                          <a:ea typeface="Arial"/>
                          <a:cs typeface="Arial"/>
                        </a:rPr>
                        <a:t>the selected jurisdiction</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r>
              <a:tr h="647700">
                <a:tc>
                  <a:txBody>
                    <a:bodyPr wrap="square" lIns="133350" tIns="76200" rIns="133350" bIns="76200">
                      <a:noAutofit/>
                    </a:bodyPr>
                    <a:lstStyle/>
                    <a:p>
                      <a:pPr algn="l">
                        <a:lnSpc>
                          <a:spcPct val="102000"/>
                        </a:lnSpc>
                        <a:buNone/>
                      </a:pPr>
                      <a:r>
                        <a:rPr sz="1650" b="0">
                          <a:solidFill>
                            <a:srgbClr val="193047"/>
                          </a:solidFill>
                          <a:latin typeface="Arial"/>
                          <a:ea typeface="Arial"/>
                          <a:cs typeface="Arial"/>
                        </a:rPr>
                        <a:t>Relevant text may not</a:t>
                      </a:r>
                    </a:p>
                    <a:p>
                      <a:pPr algn="l">
                        <a:lnSpc>
                          <a:spcPct val="102000"/>
                        </a:lnSpc>
                        <a:buNone/>
                      </a:pPr>
                      <a:r>
                        <a:rPr sz="1650" b="0">
                          <a:solidFill>
                            <a:srgbClr val="193047"/>
                          </a:solidFill>
                          <a:latin typeface="Arial"/>
                          <a:ea typeface="Arial"/>
                          <a:cs typeface="Arial"/>
                        </a:rPr>
                        <a:t>support the claim</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650" b="1">
                          <a:solidFill>
                            <a:srgbClr val="193047"/>
                          </a:solidFill>
                          <a:latin typeface="Arial"/>
                          <a:ea typeface="Arial"/>
                          <a:cs typeface="Arial"/>
                        </a:rPr>
                        <a:t>Dated evidence + citation</a:t>
                      </a:r>
                    </a:p>
                    <a:p>
                      <a:pPr algn="l">
                        <a:lnSpc>
                          <a:spcPct val="102000"/>
                        </a:lnSpc>
                        <a:buNone/>
                      </a:pPr>
                      <a:r>
                        <a:rPr sz="1650" b="1">
                          <a:solidFill>
                            <a:srgbClr val="193047"/>
                          </a:solidFill>
                          <a:latin typeface="Arial"/>
                          <a:ea typeface="Arial"/>
                          <a:cs typeface="Arial"/>
                        </a:rPr>
                        <a:t>verification + abstention</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650" b="0">
                          <a:solidFill>
                            <a:srgbClr val="0B716A"/>
                          </a:solidFill>
                          <a:latin typeface="Arial"/>
                          <a:ea typeface="Arial"/>
                          <a:cs typeface="Arial"/>
                        </a:rPr>
                        <a:t>Trace each claim to evidence</a:t>
                      </a:r>
                    </a:p>
                    <a:p>
                      <a:pPr algn="l">
                        <a:lnSpc>
                          <a:spcPct val="102000"/>
                        </a:lnSpc>
                        <a:buNone/>
                      </a:pPr>
                      <a:r>
                        <a:rPr sz="1650" b="0">
                          <a:solidFill>
                            <a:srgbClr val="0B716A"/>
                          </a:solidFill>
                          <a:latin typeface="Arial"/>
                          <a:ea typeface="Arial"/>
                          <a:cs typeface="Arial"/>
                        </a:rPr>
                        <a:t>or stop the answer</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r>
              <a:tr h="647700">
                <a:tc>
                  <a:txBody>
                    <a:bodyPr wrap="square" lIns="133350" tIns="76200" rIns="133350" bIns="76200">
                      <a:noAutofit/>
                    </a:bodyPr>
                    <a:lstStyle/>
                    <a:p>
                      <a:pPr algn="l">
                        <a:lnSpc>
                          <a:spcPct val="102000"/>
                        </a:lnSpc>
                        <a:buNone/>
                      </a:pPr>
                      <a:r>
                        <a:rPr sz="1650" b="0">
                          <a:solidFill>
                            <a:srgbClr val="193047"/>
                          </a:solidFill>
                          <a:latin typeface="Arial"/>
                          <a:ea typeface="Arial"/>
                          <a:cs typeface="Arial"/>
                        </a:rPr>
                        <a:t>Users need an actionable</a:t>
                      </a:r>
                    </a:p>
                    <a:p>
                      <a:pPr algn="l">
                        <a:lnSpc>
                          <a:spcPct val="102000"/>
                        </a:lnSpc>
                        <a:buNone/>
                      </a:pPr>
                      <a:r>
                        <a:rPr sz="1650" b="0">
                          <a:solidFill>
                            <a:srgbClr val="193047"/>
                          </a:solidFill>
                          <a:latin typeface="Arial"/>
                          <a:ea typeface="Arial"/>
                          <a:cs typeface="Arial"/>
                        </a:rPr>
                        <a:t>next step</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650" b="1">
                          <a:solidFill>
                            <a:srgbClr val="193047"/>
                          </a:solidFill>
                          <a:latin typeface="Arial"/>
                          <a:ea typeface="Arial"/>
                          <a:cs typeface="Arial"/>
                        </a:rPr>
                        <a:t>Multilingual guidance +</a:t>
                      </a:r>
                    </a:p>
                    <a:p>
                      <a:pPr algn="l">
                        <a:lnSpc>
                          <a:spcPct val="102000"/>
                        </a:lnSpc>
                        <a:buNone/>
                      </a:pPr>
                      <a:r>
                        <a:rPr sz="1650" b="1">
                          <a:solidFill>
                            <a:srgbClr val="193047"/>
                          </a:solidFill>
                          <a:latin typeface="Arial"/>
                          <a:ea typeface="Arial"/>
                          <a:cs typeface="Arial"/>
                        </a:rPr>
                        <a:t>registry / form routing</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650" b="0">
                          <a:solidFill>
                            <a:srgbClr val="0B716A"/>
                          </a:solidFill>
                          <a:latin typeface="Arial"/>
                          <a:ea typeface="Arial"/>
                          <a:cs typeface="Arial"/>
                        </a:rPr>
                        <a:t>Reach official action links</a:t>
                      </a:r>
                    </a:p>
                    <a:p>
                      <a:pPr algn="l">
                        <a:lnSpc>
                          <a:spcPct val="102000"/>
                        </a:lnSpc>
                        <a:buNone/>
                      </a:pPr>
                      <a:r>
                        <a:rPr sz="1650" b="0">
                          <a:solidFill>
                            <a:srgbClr val="0B716A"/>
                          </a:solidFill>
                          <a:latin typeface="Arial"/>
                          <a:ea typeface="Arial"/>
                          <a:cs typeface="Arial"/>
                        </a:rPr>
                        <a:t>in the user’s language</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r>
            </a:tbl>
          </a:graphicData>
        </a:graphic>
      </p:graphicFrame>
      <p:sp>
        <p:nvSpPr>
          <p:cNvPr id="15367" name="Classification categories label">
            <a:extLst xmlns:a="http://schemas.openxmlformats.org/drawingml/2006/main">
              <a:ext uri="{FF2B5EF4-FFF2-40B4-BE49-F238E27FC236}">
                <a16:creationId xmlns:a16="http://schemas.microsoft.com/office/drawing/2014/main" id="{2E83A96D-9EFF-4979-BF40-2B6E1321D8E0}"/>
              </a:ext>
            </a:extLst>
          </p:cNvPr>
          <p:cNvSpPr>
            <a:spLocks xmlns:a="http://schemas.openxmlformats.org/drawingml/2006/main" noGrp="1"/>
          </p:cNvSpPr>
          <p:nvPr/>
        </p:nvSpPr>
        <p:spPr>
          <a:xfrm xmlns:a="http://schemas.openxmlformats.org/drawingml/2006/main">
            <a:off x="428625" y="5505450"/>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56575"/>
                </a:solidFill>
                <a:latin typeface="Arial"/>
                <a:ea typeface="Arial"/>
                <a:cs typeface="Arial"/>
              </a:defRPr>
            </a:pPr>
            <a:r>
              <a:t>SIX REGULATORY CATEGORIES</a:t>
            </a:r>
          </a:p>
        </p:txBody>
      </p:sp>
      <p:sp>
        <p:nvSpPr>
          <p:cNvPr id="15368" name="Classification categories">
            <a:extLst xmlns:a="http://schemas.openxmlformats.org/drawingml/2006/main">
              <a:ext uri="{FF2B5EF4-FFF2-40B4-BE49-F238E27FC236}">
                <a16:creationId xmlns:a16="http://schemas.microsoft.com/office/drawing/2014/main" id="{03257DC7-F42E-4391-8FA1-2F70EC225862}"/>
              </a:ext>
            </a:extLst>
          </p:cNvPr>
          <p:cNvSpPr>
            <a:spLocks xmlns:a="http://schemas.openxmlformats.org/drawingml/2006/main" noGrp="1"/>
          </p:cNvSpPr>
          <p:nvPr/>
        </p:nvSpPr>
        <p:spPr>
          <a:xfrm xmlns:a="http://schemas.openxmlformats.org/drawingml/2006/main">
            <a:off x="428625" y="5791200"/>
            <a:ext cx="11334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38" b="0">
                <a:solidFill>
                  <a:srgbClr val="17365D"/>
                </a:solidFill>
                <a:latin typeface="Arial"/>
                <a:ea typeface="Arial"/>
                <a:cs typeface="Arial"/>
              </a:defRPr>
            </a:pPr>
            <a:r>
              <a:t>Classical   /   Proprietary   /   New drug   /   Phytopharmaceutical   /   Ayurveda-Aahar   /   Cosmetic</a:t>
            </a:r>
          </a:p>
        </p:txBody>
      </p:sp>
      <p:sp>
        <p:nvSpPr>
          <p:cNvPr id="15369" name="TKDL boundary">
            <a:extLst xmlns:a="http://schemas.openxmlformats.org/drawingml/2006/main">
              <a:ext uri="{FF2B5EF4-FFF2-40B4-BE49-F238E27FC236}">
                <a16:creationId xmlns:a16="http://schemas.microsoft.com/office/drawing/2014/main" id="{ADE4E340-56B8-4387-AFA6-E246B1B36A60}"/>
              </a:ext>
            </a:extLst>
          </p:cNvPr>
          <p:cNvSpPr>
            <a:spLocks xmlns:a="http://schemas.openxmlformats.org/drawingml/2006/main" noGrp="1"/>
          </p:cNvSpPr>
          <p:nvPr/>
        </p:nvSpPr>
        <p:spPr>
          <a:xfrm xmlns:a="http://schemas.openxmlformats.org/drawingml/2006/main">
            <a:off x="428625" y="6067425"/>
            <a:ext cx="1133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56575"/>
                </a:solidFill>
                <a:latin typeface="Arial"/>
                <a:ea typeface="Arial"/>
                <a:cs typeface="Arial"/>
              </a:defRPr>
            </a:pPr>
            <a:r>
              <a:t>TKDL remains a defensive-knowledge referral. Paid-source access requires logged consent.</a:t>
            </a:r>
          </a:p>
        </p:txBody>
      </p:sp>
    </p:spTree>
    <p:extLst>
      <p:ext uri="{BB962C8B-B14F-4D97-AF65-F5344CB8AC3E}">
        <p14:creationId xmlns:p14="http://schemas.microsoft.com/office/powerpoint/2010/main" val="209018925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17439" name=""/>
          <p:cNvCxnSpPr>
            <a:stCxn xmlns:a="http://schemas.openxmlformats.org/drawingml/2006/main" id="17421" idx="1"/>
            <a:endCxn xmlns:a="http://schemas.openxmlformats.org/drawingml/2006/main" id="17422" idx="3"/>
          </p:cNvCxnSpPr>
          <p:nvPr/>
        </p:nvCxnSpPr>
        <p:spPr>
          <a:xfrm xmlns:a="http://schemas.openxmlformats.org/drawingml/2006/main" flipH="1">
            <a:off x="8677275" y="5653088"/>
            <a:ext cx="542925" cy="0"/>
          </a:xfrm>
          <a:prstGeom xmlns:a="http://schemas.openxmlformats.org/drawingml/2006/main" prst="straightConnector1">
            <a:avLst/>
          </a:prstGeom>
          <a:ln xmlns:a="http://schemas.openxmlformats.org/drawingml/2006/main" w="19050">
            <a:solidFill>
              <a:srgbClr val="A13434"/>
            </a:solidFill>
            <a:prstDash val="solid"/>
            <a:tailEnd type="triangle" w="med" len="med"/>
          </a:ln>
        </p:spPr>
      </p:cxnSp>
      <p:cxnSp>
        <p:nvCxnSpPr>
          <p:cNvPr id="17440" name=""/>
          <p:cNvCxnSpPr>
            <a:stCxn xmlns:a="http://schemas.openxmlformats.org/drawingml/2006/main" id="17417" idx="1"/>
            <a:endCxn xmlns:a="http://schemas.openxmlformats.org/drawingml/2006/main" id="17421" idx="0"/>
          </p:cNvCxnSpPr>
          <p:nvPr/>
        </p:nvCxnSpPr>
        <p:spPr>
          <a:xfrm xmlns:a="http://schemas.openxmlformats.org/drawingml/2006/main">
            <a:off x="4152900" y="4552950"/>
            <a:ext cx="6353175" cy="723900"/>
          </a:xfrm>
          <a:prstGeom xmlns:a="http://schemas.openxmlformats.org/drawingml/2006/main" prst="bentConnector4">
            <a:avLst>
              <a:gd name="adj1" fmla="val 0"/>
              <a:gd name="adj2" fmla="val 68421"/>
            </a:avLst>
          </a:prstGeom>
          <a:ln xmlns:a="http://schemas.openxmlformats.org/drawingml/2006/main" w="19050">
            <a:solidFill>
              <a:srgbClr val="A13434"/>
            </a:solidFill>
            <a:prstDash val="dash"/>
            <a:tailEnd type="triangle" w="med" len="med"/>
          </a:ln>
        </p:spPr>
      </p:cxnSp>
      <p:cxnSp>
        <p:nvCxnSpPr>
          <p:cNvPr id="17441" name=""/>
          <p:cNvCxnSpPr>
            <a:stCxn xmlns:a="http://schemas.openxmlformats.org/drawingml/2006/main" id="17420" idx="2"/>
            <a:endCxn xmlns:a="http://schemas.openxmlformats.org/drawingml/2006/main" id="17421" idx="0"/>
          </p:cNvCxnSpPr>
          <p:nvPr/>
        </p:nvCxnSpPr>
        <p:spPr>
          <a:xfrm xmlns:a="http://schemas.openxmlformats.org/drawingml/2006/main">
            <a:off x="10506075" y="4676775"/>
            <a:ext cx="0" cy="600075"/>
          </a:xfrm>
          <a:prstGeom xmlns:a="http://schemas.openxmlformats.org/drawingml/2006/main" prst="straightConnector1">
            <a:avLst/>
          </a:prstGeom>
          <a:ln xmlns:a="http://schemas.openxmlformats.org/drawingml/2006/main" w="19050">
            <a:solidFill>
              <a:srgbClr val="A13434"/>
            </a:solidFill>
            <a:prstDash val="solid"/>
            <a:tailEnd type="triangle" w="med" len="med"/>
          </a:ln>
        </p:spPr>
      </p:cxnSp>
      <p:cxnSp>
        <p:nvCxnSpPr>
          <p:cNvPr id="17442" name=""/>
          <p:cNvCxnSpPr>
            <a:stCxn xmlns:a="http://schemas.openxmlformats.org/drawingml/2006/main" id="17420" idx="0"/>
            <a:endCxn xmlns:a="http://schemas.openxmlformats.org/drawingml/2006/main" id="17415" idx="2"/>
          </p:cNvCxnSpPr>
          <p:nvPr/>
        </p:nvCxnSpPr>
        <p:spPr>
          <a:xfrm xmlns:a="http://schemas.openxmlformats.org/drawingml/2006/main" flipV="1">
            <a:off x="10506075" y="2943225"/>
            <a:ext cx="0" cy="266700"/>
          </a:xfrm>
          <a:prstGeom xmlns:a="http://schemas.openxmlformats.org/drawingml/2006/main" prst="straightConnector1">
            <a:avLst/>
          </a:prstGeom>
          <a:ln xmlns:a="http://schemas.openxmlformats.org/drawingml/2006/main" w="19050">
            <a:solidFill>
              <a:srgbClr val="0B716A"/>
            </a:solidFill>
            <a:prstDash val="solid"/>
            <a:tailEnd type="triangle" w="med" len="med"/>
          </a:ln>
        </p:spPr>
      </p:cxnSp>
      <p:cxnSp>
        <p:nvCxnSpPr>
          <p:cNvPr id="17443" name=""/>
          <p:cNvCxnSpPr>
            <a:stCxn xmlns:a="http://schemas.openxmlformats.org/drawingml/2006/main" id="17419" idx="3"/>
            <a:endCxn xmlns:a="http://schemas.openxmlformats.org/drawingml/2006/main" id="17420" idx="1"/>
          </p:cNvCxnSpPr>
          <p:nvPr/>
        </p:nvCxnSpPr>
        <p:spPr>
          <a:xfrm xmlns:a="http://schemas.openxmlformats.org/drawingml/2006/main">
            <a:off x="8943975" y="3943350"/>
            <a:ext cx="304800" cy="0"/>
          </a:xfrm>
          <a:prstGeom xmlns:a="http://schemas.openxmlformats.org/drawingml/2006/main" prst="straightConnector1">
            <a:avLst/>
          </a:prstGeom>
          <a:ln xmlns:a="http://schemas.openxmlformats.org/drawingml/2006/main" w="19050">
            <a:solidFill>
              <a:srgbClr val="245C91"/>
            </a:solidFill>
            <a:prstDash val="solid"/>
            <a:tailEnd type="triangle" w="med" len="med"/>
          </a:ln>
        </p:spPr>
      </p:cxnSp>
      <p:cxnSp>
        <p:nvCxnSpPr>
          <p:cNvPr id="17444" name=""/>
          <p:cNvCxnSpPr>
            <a:stCxn xmlns:a="http://schemas.openxmlformats.org/drawingml/2006/main" id="17418" idx="3"/>
            <a:endCxn xmlns:a="http://schemas.openxmlformats.org/drawingml/2006/main" id="17419" idx="1"/>
          </p:cNvCxnSpPr>
          <p:nvPr/>
        </p:nvCxnSpPr>
        <p:spPr>
          <a:xfrm xmlns:a="http://schemas.openxmlformats.org/drawingml/2006/main">
            <a:off x="6686550" y="3943350"/>
            <a:ext cx="409575" cy="0"/>
          </a:xfrm>
          <a:prstGeom xmlns:a="http://schemas.openxmlformats.org/drawingml/2006/main" prst="straightConnector1">
            <a:avLst/>
          </a:prstGeom>
          <a:ln xmlns:a="http://schemas.openxmlformats.org/drawingml/2006/main" w="19050">
            <a:solidFill>
              <a:srgbClr val="245C91"/>
            </a:solidFill>
            <a:prstDash val="solid"/>
            <a:tailEnd type="triangle" w="med" len="med"/>
          </a:ln>
        </p:spPr>
      </p:cxnSp>
      <p:cxnSp>
        <p:nvCxnSpPr>
          <p:cNvPr id="17445" name=""/>
          <p:cNvCxnSpPr>
            <a:stCxn xmlns:a="http://schemas.openxmlformats.org/drawingml/2006/main" id="17414" idx="3"/>
            <a:endCxn xmlns:a="http://schemas.openxmlformats.org/drawingml/2006/main" id="17418" idx="0"/>
          </p:cNvCxnSpPr>
          <p:nvPr/>
        </p:nvCxnSpPr>
        <p:spPr>
          <a:xfrm xmlns:a="http://schemas.openxmlformats.org/drawingml/2006/main">
            <a:off x="5762625" y="3019425"/>
            <a:ext cx="0" cy="419100"/>
          </a:xfrm>
          <a:prstGeom xmlns:a="http://schemas.openxmlformats.org/drawingml/2006/main" prst="straightConnector1">
            <a:avLst/>
          </a:prstGeom>
          <a:ln xmlns:a="http://schemas.openxmlformats.org/drawingml/2006/main" w="19050">
            <a:solidFill>
              <a:srgbClr val="0B716A"/>
            </a:solidFill>
            <a:prstDash val="solid"/>
            <a:tailEnd type="triangle" w="med" len="med"/>
          </a:ln>
        </p:spPr>
      </p:cxnSp>
      <p:cxnSp>
        <p:nvCxnSpPr>
          <p:cNvPr id="17446" name=""/>
          <p:cNvCxnSpPr>
            <a:stCxn xmlns:a="http://schemas.openxmlformats.org/drawingml/2006/main" id="17417" idx="0"/>
            <a:endCxn xmlns:a="http://schemas.openxmlformats.org/drawingml/2006/main" id="17418" idx="1"/>
          </p:cNvCxnSpPr>
          <p:nvPr/>
        </p:nvCxnSpPr>
        <p:spPr>
          <a:xfrm xmlns:a="http://schemas.openxmlformats.org/drawingml/2006/main">
            <a:off x="4457700" y="3943350"/>
            <a:ext cx="381000" cy="0"/>
          </a:xfrm>
          <a:prstGeom xmlns:a="http://schemas.openxmlformats.org/drawingml/2006/main" prst="straightConnector1">
            <a:avLst/>
          </a:prstGeom>
          <a:ln xmlns:a="http://schemas.openxmlformats.org/drawingml/2006/main" w="19050">
            <a:solidFill>
              <a:srgbClr val="245C91"/>
            </a:solidFill>
            <a:prstDash val="solid"/>
            <a:tailEnd type="triangle" w="med" len="med"/>
          </a:ln>
        </p:spPr>
      </p:cxnSp>
      <p:cxnSp>
        <p:nvCxnSpPr>
          <p:cNvPr id="17447" name=""/>
          <p:cNvCxnSpPr>
            <a:stCxn xmlns:a="http://schemas.openxmlformats.org/drawingml/2006/main" id="17416" idx="3"/>
            <a:endCxn xmlns:a="http://schemas.openxmlformats.org/drawingml/2006/main" id="17417" idx="3"/>
          </p:cNvCxnSpPr>
          <p:nvPr/>
        </p:nvCxnSpPr>
        <p:spPr>
          <a:xfrm xmlns:a="http://schemas.openxmlformats.org/drawingml/2006/main">
            <a:off x="2295525" y="3943350"/>
            <a:ext cx="285750" cy="0"/>
          </a:xfrm>
          <a:prstGeom xmlns:a="http://schemas.openxmlformats.org/drawingml/2006/main" prst="straightConnector1">
            <a:avLst/>
          </a:prstGeom>
          <a:ln xmlns:a="http://schemas.openxmlformats.org/drawingml/2006/main" w="19050">
            <a:solidFill>
              <a:srgbClr val="245C91"/>
            </a:solidFill>
            <a:prstDash val="solid"/>
            <a:tailEnd type="triangle" w="med" len="med"/>
          </a:ln>
        </p:spPr>
      </p:cxnSp>
      <p:cxnSp>
        <p:nvCxnSpPr>
          <p:cNvPr id="17448" name=""/>
          <p:cNvCxnSpPr>
            <a:stCxn xmlns:a="http://schemas.openxmlformats.org/drawingml/2006/main" id="17413" idx="2"/>
            <a:endCxn xmlns:a="http://schemas.openxmlformats.org/drawingml/2006/main" id="17416" idx="0"/>
          </p:cNvCxnSpPr>
          <p:nvPr/>
        </p:nvCxnSpPr>
        <p:spPr>
          <a:xfrm xmlns:a="http://schemas.openxmlformats.org/drawingml/2006/main">
            <a:off x="1357313" y="2943225"/>
            <a:ext cx="0" cy="495300"/>
          </a:xfrm>
          <a:prstGeom xmlns:a="http://schemas.openxmlformats.org/drawingml/2006/main" prst="straightConnector1">
            <a:avLst/>
          </a:prstGeom>
          <a:ln xmlns:a="http://schemas.openxmlformats.org/drawingml/2006/main" w="19050">
            <a:solidFill>
              <a:srgbClr val="556575"/>
            </a:solidFill>
            <a:prstDash val="solid"/>
            <a:tailEnd type="triangle" w="med" len="med"/>
          </a:ln>
        </p:spPr>
      </p:cxnSp>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7365D"/>
          </a:solidFill>
          <a:ln xmlns:a="http://schemas.openxmlformats.org/drawingml/2006/main" w="0">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2FB16956-E359-4735-8BD7-B918753F155A}"/>
              </a:ext>
            </a:extLst>
          </p:cNvPr>
          <p:cNvSpPr>
            <a:spLocks xmlns:a="http://schemas.openxmlformats.org/drawingml/2006/main" noGrp="1"/>
          </p:cNvSpPr>
          <p:nvPr>
            <p:ph type="title" idx="0"/>
          </p:nvPr>
        </p:nvSpPr>
        <p:spPr>
          <a:xfrm xmlns:a="http://schemas.openxmlformats.org/drawingml/2006/main">
            <a:off x="1828800" y="323850"/>
            <a:ext cx="7867650" cy="609600"/>
          </a:xfrm>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3000" b="1">
                <a:solidFill>
                  <a:srgbClr val="17365D"/>
                </a:solidFill>
                <a:latin typeface="Arial"/>
                <a:ea typeface="Arial"/>
                <a:cs typeface="Arial"/>
              </a:defRPr>
            </a:pPr>
            <a:r>
              <a:rPr sz="3000" b="1">
                <a:solidFill>
                  <a:srgbClr val="17365D"/>
                </a:solidFill>
                <a:latin typeface="Arial"/>
                <a:ea typeface="Arial"/>
                <a:cs typeface="Arial"/>
              </a:rPr>
              <a:t>TECHNICAL APPROACH</a:t>
            </a:r>
          </a:p>
        </p:txBody>
      </p:sp>
      <p:sp>
        <p:nvSpPr>
          <p:cNvPr id="6" name="Slide Number Placeholder 5">
            <a:extLst xmlns:a="http://schemas.openxmlformats.org/drawingml/2006/main">
              <a:ext uri="{FF2B5EF4-FFF2-40B4-BE49-F238E27FC236}">
                <a16:creationId xmlns:a16="http://schemas.microsoft.com/office/drawing/2014/main" id="{B9F3793B-78F4-45CC-B38F-0C6FC502F9F3}"/>
              </a:ext>
            </a:extLst>
          </p:cNvPr>
          <p:cNvSpPr>
            <a:spLocks xmlns:a="http://schemas.openxmlformats.org/drawingml/2006/main" noGrp="1"/>
          </p:cNvSpPr>
          <p:nvPr>
            <p:ph type="sldNum" idx="12"/>
          </p:nvPr>
        </p:nvSpPr>
        <p:spPr>
          <a:xfrm xmlns:a="http://schemas.openxmlformats.org/drawingml/2006/main">
            <a:off x="10953750" y="6391275"/>
            <a:ext cx="619125" cy="333375"/>
          </a:xfrm>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5000"/>
              </a:lnSpc>
              <a:buNone/>
              <a:defRPr sz="1200" b="1">
                <a:solidFill>
                  <a:srgbClr val="FFFFFF"/>
                </a:solidFill>
                <a:latin typeface="Arial"/>
                <a:ea typeface="Arial"/>
                <a:cs typeface="Arial"/>
              </a:defRPr>
            </a:pPr>
            <a:fld id="{202359C0-8A7A-196E-DD58-8E6569619F09}" type="slidenum">
              <a:rPr sz="1200"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AC092AD8-DE34-4C13-A850-E1D1E96BB421}"/>
              </a:ext>
            </a:extLst>
          </p:cNvPr>
          <p:cNvSpPr>
            <a:spLocks xmlns:a="http://schemas.openxmlformats.org/drawingml/2006/main" noGrp="1"/>
          </p:cNvSpPr>
          <p:nvPr>
            <p:ph type="ftr" idx="11"/>
          </p:nvPr>
        </p:nvSpPr>
        <p:spPr>
          <a:xfrm xmlns:a="http://schemas.openxmlformats.org/drawingml/2006/main">
            <a:off x="4257675" y="6391275"/>
            <a:ext cx="3914775" cy="333375"/>
          </a:xfrm>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163" b="0">
                <a:solidFill>
                  <a:srgbClr val="FFFFFF"/>
                </a:solidFill>
                <a:latin typeface="Arial"/>
                <a:ea typeface="Arial"/>
                <a:cs typeface="Arial"/>
              </a:defRPr>
            </a:pPr>
            <a:r>
              <a:rPr sz="1163" b="0">
                <a:solidFill>
                  <a:srgbClr val="FFFFFF"/>
                </a:solidFill>
                <a:latin typeface="Arial"/>
                <a:ea typeface="Arial"/>
                <a:cs typeface="Aria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FFFFFF"/>
          </a:solidFill>
          <a:ln xmlns:a="http://schemas.openxmlformats.org/drawingml/2006/main" w="15240">
            <a:solidFill>
              <a:srgbClr val="17365D"/>
            </a:solidFill>
            <a:prstDash val="solid"/>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5000"/>
              </a:lnSpc>
              <a:buNone/>
              <a:defRPr sz="1725" b="1">
                <a:solidFill>
                  <a:srgbClr val="17365D"/>
                </a:solidFill>
                <a:latin typeface="Arial"/>
                <a:ea typeface="Arial"/>
                <a:cs typeface="Arial"/>
              </a:defRPr>
            </a:pPr>
            <a:r>
              <a:rPr sz="1725" b="1">
                <a:solidFill>
                  <a:srgbClr val="17365D"/>
                </a:solidFill>
                <a:latin typeface="Arial"/>
                <a:ea typeface="Arial"/>
                <a:cs typeface="Arial"/>
              </a:rPr>
              <a:t>Victor</a:t>
            </a:r>
            <a:endParaRPr/>
          </a:p>
          <a:p xmlns:a="http://schemas.openxmlformats.org/drawingml/2006/main">
            <a:pPr algn="ctr">
              <a:lnSpc>
                <a:spcPct val="105000"/>
              </a:lnSpc>
              <a:buNone/>
              <a:defRPr sz="1725" b="1">
                <a:solidFill>
                  <a:srgbClr val="17365D"/>
                </a:solidFill>
                <a:latin typeface="Arial"/>
                <a:ea typeface="Arial"/>
                <a:cs typeface="Arial"/>
              </a:defRPr>
            </a:pPr>
            <a:r>
              <a:rPr sz="1725" b="1">
                <a:solidFill>
                  <a:srgbClr val="17365D"/>
                </a:solidFill>
                <a:latin typeface="Arial"/>
                <a:ea typeface="Arial"/>
                <a:cs typeface="Arial"/>
              </a:rPr>
              <a:t>Bytes</a:t>
            </a:r>
            <a:endParaRPr/>
          </a:p>
        </p:txBody>
      </p:sp>
      <p:pic>
        <p:nvPicPr>
          <p:cNvPr id="17454" name="Picture 11"/>
          <p:cNvPicPr>
            <a:picLocks xmlns:a="http://schemas.openxmlformats.org/drawingml/2006/main" noChangeAspect="1"/>
          </p:cNvPicPr>
          <p:nvPr/>
        </p:nvPicPr>
        <p:blipFill>
          <a:blip xmlns:r="http://schemas.openxmlformats.org/officeDocument/2006/relationships" xmlns:a="http://schemas.openxmlformats.org/drawingml/2006/main" r:embed="R85e60d710b584c3e"/>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Architecture premise">
            <a:extLst xmlns:a="http://schemas.openxmlformats.org/drawingml/2006/main">
              <a:ext uri="{FF2B5EF4-FFF2-40B4-BE49-F238E27FC236}">
                <a16:creationId xmlns:a16="http://schemas.microsoft.com/office/drawing/2014/main" id="{04C7FF1D-B43B-4C07-BDF3-B709283798DA}"/>
              </a:ext>
            </a:extLst>
          </p:cNvPr>
          <p:cNvSpPr>
            <a:spLocks xmlns:a="http://schemas.openxmlformats.org/drawingml/2006/main" noGrp="1"/>
          </p:cNvSpPr>
          <p:nvPr/>
        </p:nvSpPr>
        <p:spPr>
          <a:xfrm xmlns:a="http://schemas.openxmlformats.org/drawingml/2006/main">
            <a:off x="419100" y="1304925"/>
            <a:ext cx="1133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65D"/>
                </a:solidFill>
                <a:latin typeface="Arial"/>
                <a:ea typeface="Arial"/>
                <a:cs typeface="Arial"/>
              </a:defRPr>
            </a:pPr>
            <a:r>
              <a:t>A regulatory reasoning pipeline with explicit evidence gates</a:t>
            </a:r>
          </a:p>
        </p:txBody>
      </p:sp>
      <p:sp>
        <p:nvSpPr>
          <p:cNvPr id="17413" name="Multilingual query">
            <a:extLst xmlns:a="http://schemas.openxmlformats.org/drawingml/2006/main">
              <a:ext uri="{FF2B5EF4-FFF2-40B4-BE49-F238E27FC236}">
                <a16:creationId xmlns:a16="http://schemas.microsoft.com/office/drawing/2014/main" id="{92E970CF-1BF5-4228-B221-056F0F73FEE9}"/>
              </a:ext>
            </a:extLst>
          </p:cNvPr>
          <p:cNvSpPr>
            <a:spLocks xmlns:a="http://schemas.openxmlformats.org/drawingml/2006/main" noGrp="1"/>
          </p:cNvSpPr>
          <p:nvPr/>
        </p:nvSpPr>
        <p:spPr>
          <a:xfrm xmlns:a="http://schemas.openxmlformats.org/drawingml/2006/main">
            <a:off x="419100" y="1752600"/>
            <a:ext cx="1876425" cy="1190625"/>
          </a:xfrm>
          <a:prstGeom xmlns:a="http://schemas.openxmlformats.org/drawingml/2006/main" prst="roundRect">
            <a:avLst>
              <a:gd name="adj" fmla="val 5600"/>
            </a:avLst>
          </a:prstGeom>
          <a:solidFill xmlns:a="http://schemas.openxmlformats.org/drawingml/2006/main">
            <a:srgbClr val="F4F7F9"/>
          </a:solidFill>
          <a:ln xmlns:a="http://schemas.openxmlformats.org/drawingml/2006/main" w="17145">
            <a:solidFill>
              <a:srgbClr val="556575"/>
            </a:solidFill>
            <a:prstDash val="solid"/>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420"/>
              </a:spcAft>
              <a:defRPr sz="1725" b="0">
                <a:solidFill>
                  <a:srgbClr val="17365D"/>
                </a:solidFill>
                <a:latin typeface="Arial"/>
                <a:ea typeface="Arial"/>
                <a:cs typeface="Arial"/>
              </a:defRPr>
            </a:pPr>
            <a:r>
              <a:rPr sz="1725" b="1">
                <a:solidFill>
                  <a:srgbClr val="17365D"/>
                </a:solidFill>
                <a:latin typeface="Arial"/>
                <a:ea typeface="Arial"/>
                <a:cs typeface="Arial"/>
              </a:rPr>
              <a:t>User query</a:t>
            </a:r>
          </a:p>
          <a:p xmlns:a="http://schemas.openxmlformats.org/drawingml/2006/main">
            <a:pPr algn="ctr">
              <a:spcAft>
                <a:spcPts val="0"/>
              </a:spcAft>
              <a:defRPr sz="1725" b="0">
                <a:solidFill>
                  <a:srgbClr val="17365D"/>
                </a:solidFill>
                <a:latin typeface="Arial"/>
                <a:ea typeface="Arial"/>
                <a:cs typeface="Arial"/>
              </a:defRPr>
            </a:pPr>
            <a:r>
              <a:rPr sz="1313" b="0">
                <a:solidFill>
                  <a:srgbClr val="193047"/>
                </a:solidFill>
                <a:latin typeface="Arial"/>
                <a:ea typeface="Arial"/>
                <a:cs typeface="Arial"/>
              </a:rPr>
              <a:t>Multilingual I/O</a:t>
            </a:r>
          </a:p>
          <a:p xmlns:a="http://schemas.openxmlformats.org/drawingml/2006/main">
            <a:pPr algn="ctr">
              <a:spcAft>
                <a:spcPts val="0"/>
              </a:spcAft>
              <a:defRPr sz="1725" b="0">
                <a:solidFill>
                  <a:srgbClr val="17365D"/>
                </a:solidFill>
                <a:latin typeface="Arial"/>
                <a:ea typeface="Arial"/>
                <a:cs typeface="Arial"/>
              </a:defRPr>
            </a:pPr>
            <a:r>
              <a:rPr sz="1313" b="0">
                <a:solidFill>
                  <a:srgbClr val="193047"/>
                </a:solidFill>
                <a:latin typeface="Arial"/>
                <a:ea typeface="Arial"/>
                <a:cs typeface="Arial"/>
              </a:rPr>
              <a:t>IndicTrans2 / Bhashini</a:t>
            </a:r>
          </a:p>
          <a:p xmlns:a="http://schemas.openxmlformats.org/drawingml/2006/main">
            <a:pPr algn="ctr">
              <a:spcAft>
                <a:spcPts val="0"/>
              </a:spcAft>
              <a:defRPr sz="1725" b="0">
                <a:solidFill>
                  <a:srgbClr val="17365D"/>
                </a:solidFill>
                <a:latin typeface="Arial"/>
                <a:ea typeface="Arial"/>
                <a:cs typeface="Arial"/>
              </a:defRPr>
            </a:pPr>
            <a:r>
              <a:rPr sz="1313" b="0">
                <a:solidFill>
                  <a:srgbClr val="193047"/>
                </a:solidFill>
                <a:latin typeface="Arial"/>
                <a:ea typeface="Arial"/>
                <a:cs typeface="Arial"/>
              </a:rPr>
              <a:t>React / Streamlit</a:t>
            </a:r>
          </a:p>
        </p:txBody>
      </p:sp>
      <p:sp>
        <p:nvSpPr>
          <p:cNvPr id="17414" name="Authoritative corpus">
            <a:extLst xmlns:a="http://schemas.openxmlformats.org/drawingml/2006/main">
              <a:ext uri="{FF2B5EF4-FFF2-40B4-BE49-F238E27FC236}">
                <a16:creationId xmlns:a16="http://schemas.microsoft.com/office/drawing/2014/main" id="{FCF66A7D-827F-436C-925C-FFA527B6E4EE}"/>
              </a:ext>
            </a:extLst>
          </p:cNvPr>
          <p:cNvSpPr>
            <a:spLocks xmlns:a="http://schemas.openxmlformats.org/drawingml/2006/main" noGrp="1"/>
          </p:cNvSpPr>
          <p:nvPr/>
        </p:nvSpPr>
        <p:spPr>
          <a:xfrm xmlns:a="http://schemas.openxmlformats.org/drawingml/2006/main">
            <a:off x="4352925" y="1752600"/>
            <a:ext cx="2819400" cy="1266825"/>
          </a:xfrm>
          <a:prstGeom xmlns:a="http://schemas.openxmlformats.org/drawingml/2006/main" prst="can">
            <a:avLst/>
          </a:prstGeom>
          <a:solidFill xmlns:a="http://schemas.openxmlformats.org/drawingml/2006/main">
            <a:srgbClr val="EAF5F2"/>
          </a:solidFill>
          <a:ln xmlns:a="http://schemas.openxmlformats.org/drawingml/2006/main" w="17145">
            <a:solidFill>
              <a:srgbClr val="0B716A"/>
            </a:solidFill>
            <a:prstDash val="solid"/>
          </a:ln>
        </p:spPr>
        <p:txBody>
          <a:bodyPr xmlns:a="http://schemas.openxmlformats.org/drawingml/2006/main" wrap="square" lIns="123825" tIns="171450" rIns="123825" bIns="76200" anchor="ctr">
            <a:noAutofit/>
          </a:bodyPr>
          <a:lstStyle xmlns:a="http://schemas.openxmlformats.org/drawingml/2006/main"/>
          <a:p xmlns:a="http://schemas.openxmlformats.org/drawingml/2006/main">
            <a:pPr algn="ctr">
              <a:spcAft>
                <a:spcPts val="420"/>
              </a:spcAft>
              <a:defRPr sz="1650" b="0">
                <a:solidFill>
                  <a:srgbClr val="17365D"/>
                </a:solidFill>
                <a:latin typeface="Arial"/>
                <a:ea typeface="Arial"/>
                <a:cs typeface="Arial"/>
              </a:defRPr>
            </a:pPr>
            <a:r>
              <a:rPr sz="1650" b="1">
                <a:solidFill>
                  <a:srgbClr val="17365D"/>
                </a:solidFill>
                <a:latin typeface="Arial"/>
                <a:ea typeface="Arial"/>
                <a:cs typeface="Arial"/>
              </a:rPr>
              <a:t>Authoritative corpus</a:t>
            </a:r>
          </a:p>
          <a:p xmlns:a="http://schemas.openxmlformats.org/drawingml/2006/main">
            <a:pPr algn="ctr">
              <a:spcAft>
                <a:spcPts val="0"/>
              </a:spcAft>
              <a:defRPr sz="1650" b="0">
                <a:solidFill>
                  <a:srgbClr val="17365D"/>
                </a:solidFill>
                <a:latin typeface="Arial"/>
                <a:ea typeface="Arial"/>
                <a:cs typeface="Arial"/>
              </a:defRPr>
            </a:pPr>
            <a:r>
              <a:rPr sz="1350" b="0">
                <a:solidFill>
                  <a:srgbClr val="193047"/>
                </a:solidFill>
                <a:latin typeface="Arial"/>
                <a:ea typeface="Arial"/>
                <a:cs typeface="Arial"/>
              </a:rPr>
              <a:t>Dated statutes and sections</a:t>
            </a:r>
          </a:p>
          <a:p xmlns:a="http://schemas.openxmlformats.org/drawingml/2006/main">
            <a:pPr algn="ctr">
              <a:spcAft>
                <a:spcPts val="0"/>
              </a:spcAft>
              <a:defRPr sz="1650" b="0">
                <a:solidFill>
                  <a:srgbClr val="17365D"/>
                </a:solidFill>
                <a:latin typeface="Arial"/>
                <a:ea typeface="Arial"/>
                <a:cs typeface="Arial"/>
              </a:defRPr>
            </a:pPr>
            <a:r>
              <a:rPr sz="1350" b="0">
                <a:solidFill>
                  <a:srgbClr val="193047"/>
                </a:solidFill>
                <a:latin typeface="Arial"/>
                <a:ea typeface="Arial"/>
                <a:cs typeface="Arial"/>
              </a:rPr>
              <a:t>India Code, IP India, CDSCO,</a:t>
            </a:r>
          </a:p>
          <a:p xmlns:a="http://schemas.openxmlformats.org/drawingml/2006/main">
            <a:pPr algn="ctr">
              <a:spcAft>
                <a:spcPts val="0"/>
              </a:spcAft>
              <a:defRPr sz="1650" b="0">
                <a:solidFill>
                  <a:srgbClr val="17365D"/>
                </a:solidFill>
                <a:latin typeface="Arial"/>
                <a:ea typeface="Arial"/>
                <a:cs typeface="Arial"/>
              </a:defRPr>
            </a:pPr>
            <a:r>
              <a:rPr sz="1350" b="0">
                <a:solidFill>
                  <a:srgbClr val="193047"/>
                </a:solidFill>
                <a:latin typeface="Arial"/>
                <a:ea typeface="Arial"/>
                <a:cs typeface="Arial"/>
              </a:rPr>
              <a:t>FSSAI, NBA and WIPO Lex</a:t>
            </a:r>
          </a:p>
        </p:txBody>
      </p:sp>
      <p:sp>
        <p:nvSpPr>
          <p:cNvPr id="17415" name="Cited answer">
            <a:extLst xmlns:a="http://schemas.openxmlformats.org/drawingml/2006/main">
              <a:ext uri="{FF2B5EF4-FFF2-40B4-BE49-F238E27FC236}">
                <a16:creationId xmlns:a16="http://schemas.microsoft.com/office/drawing/2014/main" id="{B5B61F54-B41F-4D45-80DD-5E35450C8726}"/>
              </a:ext>
            </a:extLst>
          </p:cNvPr>
          <p:cNvSpPr>
            <a:spLocks xmlns:a="http://schemas.openxmlformats.org/drawingml/2006/main" noGrp="1"/>
          </p:cNvSpPr>
          <p:nvPr/>
        </p:nvSpPr>
        <p:spPr>
          <a:xfrm xmlns:a="http://schemas.openxmlformats.org/drawingml/2006/main">
            <a:off x="9229725" y="1752600"/>
            <a:ext cx="2552700" cy="1190625"/>
          </a:xfrm>
          <a:prstGeom xmlns:a="http://schemas.openxmlformats.org/drawingml/2006/main" prst="roundRect">
            <a:avLst>
              <a:gd name="adj" fmla="val 5600"/>
            </a:avLst>
          </a:prstGeom>
          <a:solidFill xmlns:a="http://schemas.openxmlformats.org/drawingml/2006/main">
            <a:srgbClr val="EAF5F2"/>
          </a:solidFill>
          <a:ln xmlns:a="http://schemas.openxmlformats.org/drawingml/2006/main" w="17145">
            <a:solidFill>
              <a:srgbClr val="0B716A"/>
            </a:solidFill>
            <a:prstDash val="solid"/>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420"/>
              </a:spcAft>
              <a:defRPr sz="1725" b="0">
                <a:solidFill>
                  <a:srgbClr val="0B716A"/>
                </a:solidFill>
                <a:latin typeface="Arial"/>
                <a:ea typeface="Arial"/>
                <a:cs typeface="Arial"/>
              </a:defRPr>
            </a:pPr>
            <a:r>
              <a:rPr sz="1725" b="1">
                <a:solidFill>
                  <a:srgbClr val="0B716A"/>
                </a:solidFill>
                <a:latin typeface="Arial"/>
                <a:ea typeface="Arial"/>
                <a:cs typeface="Arial"/>
              </a:rPr>
              <a:t>Cited answer</a:t>
            </a:r>
          </a:p>
          <a:p xmlns:a="http://schemas.openxmlformats.org/drawingml/2006/main">
            <a:pPr algn="ctr">
              <a:spcAft>
                <a:spcPts val="0"/>
              </a:spcAft>
              <a:defRPr sz="1725" b="0">
                <a:solidFill>
                  <a:srgbClr val="0B716A"/>
                </a:solidFill>
                <a:latin typeface="Arial"/>
                <a:ea typeface="Arial"/>
                <a:cs typeface="Arial"/>
              </a:defRPr>
            </a:pPr>
            <a:r>
              <a:rPr sz="1350" b="0">
                <a:solidFill>
                  <a:srgbClr val="193047"/>
                </a:solidFill>
                <a:latin typeface="Arial"/>
                <a:ea typeface="Arial"/>
                <a:cs typeface="Arial"/>
              </a:rPr>
              <a:t>Source + registry/form links</a:t>
            </a:r>
          </a:p>
          <a:p xmlns:a="http://schemas.openxmlformats.org/drawingml/2006/main">
            <a:pPr algn="ctr">
              <a:spcAft>
                <a:spcPts val="0"/>
              </a:spcAft>
              <a:defRPr sz="1725" b="0">
                <a:solidFill>
                  <a:srgbClr val="0B716A"/>
                </a:solidFill>
                <a:latin typeface="Arial"/>
                <a:ea typeface="Arial"/>
                <a:cs typeface="Arial"/>
              </a:defRPr>
            </a:pPr>
            <a:r>
              <a:rPr sz="1350" b="0">
                <a:solidFill>
                  <a:srgbClr val="193047"/>
                </a:solidFill>
                <a:latin typeface="Arial"/>
                <a:ea typeface="Arial"/>
                <a:cs typeface="Arial"/>
              </a:rPr>
              <a:t>As-of date + disclaimer</a:t>
            </a:r>
          </a:p>
          <a:p xmlns:a="http://schemas.openxmlformats.org/drawingml/2006/main">
            <a:pPr algn="ctr">
              <a:spcAft>
                <a:spcPts val="0"/>
              </a:spcAft>
              <a:defRPr sz="1725" b="0">
                <a:solidFill>
                  <a:srgbClr val="0B716A"/>
                </a:solidFill>
                <a:latin typeface="Arial"/>
                <a:ea typeface="Arial"/>
                <a:cs typeface="Arial"/>
              </a:defRPr>
            </a:pPr>
            <a:r>
              <a:rPr sz="1350" b="0">
                <a:solidFill>
                  <a:srgbClr val="193047"/>
                </a:solidFill>
                <a:latin typeface="Arial"/>
                <a:ea typeface="Arial"/>
                <a:cs typeface="Arial"/>
              </a:rPr>
              <a:t>Return in user language</a:t>
            </a:r>
          </a:p>
        </p:txBody>
      </p:sp>
      <p:sp>
        <p:nvSpPr>
          <p:cNvPr id="17416" name="Classification">
            <a:extLst xmlns:a="http://schemas.openxmlformats.org/drawingml/2006/main">
              <a:ext uri="{FF2B5EF4-FFF2-40B4-BE49-F238E27FC236}">
                <a16:creationId xmlns:a16="http://schemas.microsoft.com/office/drawing/2014/main" id="{7FE3264B-96FD-4D38-88F9-7B8AD57FF44F}"/>
              </a:ext>
            </a:extLst>
          </p:cNvPr>
          <p:cNvSpPr>
            <a:spLocks xmlns:a="http://schemas.openxmlformats.org/drawingml/2006/main" noGrp="1"/>
          </p:cNvSpPr>
          <p:nvPr/>
        </p:nvSpPr>
        <p:spPr>
          <a:xfrm xmlns:a="http://schemas.openxmlformats.org/drawingml/2006/main">
            <a:off x="419100" y="3438525"/>
            <a:ext cx="1876425" cy="1009650"/>
          </a:xfrm>
          <a:prstGeom xmlns:a="http://schemas.openxmlformats.org/drawingml/2006/main" prst="roundRect">
            <a:avLst>
              <a:gd name="adj" fmla="val 6604"/>
            </a:avLst>
          </a:prstGeom>
          <a:solidFill xmlns:a="http://schemas.openxmlformats.org/drawingml/2006/main">
            <a:srgbClr val="17365D"/>
          </a:solidFill>
          <a:ln xmlns:a="http://schemas.openxmlformats.org/drawingml/2006/main" w="17145">
            <a:solidFill>
              <a:srgbClr val="17365D"/>
            </a:solidFill>
            <a:prstDash val="solid"/>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420"/>
              </a:spcAft>
              <a:defRPr sz="1725" b="0">
                <a:solidFill>
                  <a:srgbClr val="FFFFFF"/>
                </a:solidFill>
                <a:latin typeface="Arial"/>
                <a:ea typeface="Arial"/>
                <a:cs typeface="Arial"/>
              </a:defRPr>
            </a:pPr>
            <a:r>
              <a:rPr sz="1725" b="1">
                <a:solidFill>
                  <a:srgbClr val="FFFFFF"/>
                </a:solidFill>
                <a:latin typeface="Arial"/>
                <a:ea typeface="Arial"/>
                <a:cs typeface="Arial"/>
              </a:rPr>
              <a:t>Classification</a:t>
            </a:r>
          </a:p>
          <a:p xmlns:a="http://schemas.openxmlformats.org/drawingml/2006/main">
            <a:pPr algn="ctr">
              <a:spcAft>
                <a:spcPts val="0"/>
              </a:spcAft>
              <a:defRPr sz="1725" b="0">
                <a:solidFill>
                  <a:srgbClr val="FFFFFF"/>
                </a:solidFill>
                <a:latin typeface="Arial"/>
                <a:ea typeface="Arial"/>
                <a:cs typeface="Arial"/>
              </a:defRPr>
            </a:pPr>
            <a:r>
              <a:rPr sz="1425" b="0">
                <a:solidFill>
                  <a:srgbClr val="FFFFFF"/>
                </a:solidFill>
                <a:latin typeface="Arial"/>
                <a:ea typeface="Arial"/>
                <a:cs typeface="Arial"/>
              </a:rPr>
              <a:t>6-category rules</a:t>
            </a:r>
          </a:p>
          <a:p xmlns:a="http://schemas.openxmlformats.org/drawingml/2006/main">
            <a:pPr algn="ctr">
              <a:spcAft>
                <a:spcPts val="0"/>
              </a:spcAft>
              <a:defRPr sz="1725" b="0">
                <a:solidFill>
                  <a:srgbClr val="FFFFFF"/>
                </a:solidFill>
                <a:latin typeface="Arial"/>
                <a:ea typeface="Arial"/>
                <a:cs typeface="Arial"/>
              </a:defRPr>
            </a:pPr>
            <a:r>
              <a:rPr sz="1425" b="0">
                <a:solidFill>
                  <a:srgbClr val="FFFFFF"/>
                </a:solidFill>
                <a:latin typeface="Arial"/>
                <a:ea typeface="Arial"/>
                <a:cs typeface="Arial"/>
              </a:rPr>
              <a:t>Python / FastAPI</a:t>
            </a:r>
          </a:p>
        </p:txBody>
      </p:sp>
      <p:sp>
        <p:nvSpPr>
          <p:cNvPr id="17417" name="Jurisdiction">
            <a:extLst xmlns:a="http://schemas.openxmlformats.org/drawingml/2006/main">
              <a:ext uri="{FF2B5EF4-FFF2-40B4-BE49-F238E27FC236}">
                <a16:creationId xmlns:a16="http://schemas.microsoft.com/office/drawing/2014/main" id="{EF710F2A-B4FC-46CA-A427-4BD4986D7F46}"/>
              </a:ext>
            </a:extLst>
          </p:cNvPr>
          <p:cNvSpPr>
            <a:spLocks xmlns:a="http://schemas.openxmlformats.org/drawingml/2006/main" noGrp="1"/>
          </p:cNvSpPr>
          <p:nvPr/>
        </p:nvSpPr>
        <p:spPr>
          <a:xfrm xmlns:a="http://schemas.openxmlformats.org/drawingml/2006/main">
            <a:off x="2581275" y="3333750"/>
            <a:ext cx="1876425" cy="1219200"/>
          </a:xfrm>
          <a:prstGeom xmlns:a="http://schemas.openxmlformats.org/drawingml/2006/main" prst="hexagon">
            <a:avLst/>
          </a:prstGeom>
          <a:solidFill xmlns:a="http://schemas.openxmlformats.org/drawingml/2006/main">
            <a:srgbClr val="FFF5E2"/>
          </a:solidFill>
          <a:ln xmlns:a="http://schemas.openxmlformats.org/drawingml/2006/main" w="17145">
            <a:solidFill>
              <a:srgbClr val="986216"/>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spcAft>
                <a:spcPts val="420"/>
              </a:spcAft>
              <a:defRPr sz="1650" b="0">
                <a:solidFill>
                  <a:srgbClr val="986216"/>
                </a:solidFill>
                <a:latin typeface="Arial"/>
                <a:ea typeface="Arial"/>
                <a:cs typeface="Arial"/>
              </a:defRPr>
            </a:pPr>
            <a:r>
              <a:rPr sz="1650" b="1">
                <a:solidFill>
                  <a:srgbClr val="986216"/>
                </a:solidFill>
                <a:latin typeface="Arial"/>
                <a:ea typeface="Arial"/>
                <a:cs typeface="Arial"/>
              </a:rPr>
              <a:t>Jurisdiction</a:t>
            </a:r>
          </a:p>
          <a:p xmlns:a="http://schemas.openxmlformats.org/drawingml/2006/main">
            <a:pPr algn="ctr">
              <a:spcAft>
                <a:spcPts val="0"/>
              </a:spcAft>
              <a:defRPr sz="1650" b="0">
                <a:solidFill>
                  <a:srgbClr val="986216"/>
                </a:solidFill>
                <a:latin typeface="Arial"/>
                <a:ea typeface="Arial"/>
                <a:cs typeface="Arial"/>
              </a:defRPr>
            </a:pPr>
            <a:r>
              <a:rPr sz="1500" b="0">
                <a:solidFill>
                  <a:srgbClr val="193047"/>
                </a:solidFill>
                <a:latin typeface="Arial"/>
                <a:ea typeface="Arial"/>
                <a:cs typeface="Arial"/>
              </a:rPr>
              <a:t>National or</a:t>
            </a:r>
          </a:p>
          <a:p xmlns:a="http://schemas.openxmlformats.org/drawingml/2006/main">
            <a:pPr algn="ctr">
              <a:spcAft>
                <a:spcPts val="0"/>
              </a:spcAft>
              <a:defRPr sz="1650" b="0">
                <a:solidFill>
                  <a:srgbClr val="986216"/>
                </a:solidFill>
                <a:latin typeface="Arial"/>
                <a:ea typeface="Arial"/>
                <a:cs typeface="Arial"/>
              </a:defRPr>
            </a:pPr>
            <a:r>
              <a:rPr sz="1500" b="0">
                <a:solidFill>
                  <a:srgbClr val="193047"/>
                </a:solidFill>
                <a:latin typeface="Arial"/>
                <a:ea typeface="Arial"/>
                <a:cs typeface="Arial"/>
              </a:rPr>
              <a:t>International</a:t>
            </a:r>
          </a:p>
        </p:txBody>
      </p:sp>
      <p:sp>
        <p:nvSpPr>
          <p:cNvPr id="17418" name="Retrieval">
            <a:extLst xmlns:a="http://schemas.openxmlformats.org/drawingml/2006/main">
              <a:ext uri="{FF2B5EF4-FFF2-40B4-BE49-F238E27FC236}">
                <a16:creationId xmlns:a16="http://schemas.microsoft.com/office/drawing/2014/main" id="{0FB108F6-2316-40D0-BA3A-9100A9F75028}"/>
              </a:ext>
            </a:extLst>
          </p:cNvPr>
          <p:cNvSpPr>
            <a:spLocks xmlns:a="http://schemas.openxmlformats.org/drawingml/2006/main" noGrp="1"/>
          </p:cNvSpPr>
          <p:nvPr/>
        </p:nvSpPr>
        <p:spPr>
          <a:xfrm xmlns:a="http://schemas.openxmlformats.org/drawingml/2006/main">
            <a:off x="4838700" y="3438525"/>
            <a:ext cx="1847850" cy="1009650"/>
          </a:xfrm>
          <a:prstGeom xmlns:a="http://schemas.openxmlformats.org/drawingml/2006/main" prst="roundRect">
            <a:avLst>
              <a:gd name="adj" fmla="val 6604"/>
            </a:avLst>
          </a:prstGeom>
          <a:solidFill xmlns:a="http://schemas.openxmlformats.org/drawingml/2006/main">
            <a:srgbClr val="EDF3F9"/>
          </a:solidFill>
          <a:ln xmlns:a="http://schemas.openxmlformats.org/drawingml/2006/main" w="17145">
            <a:solidFill>
              <a:srgbClr val="245C91"/>
            </a:solidFill>
            <a:prstDash val="solid"/>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420"/>
              </a:spcAft>
              <a:defRPr sz="1725" b="0">
                <a:solidFill>
                  <a:srgbClr val="17365D"/>
                </a:solidFill>
                <a:latin typeface="Arial"/>
                <a:ea typeface="Arial"/>
                <a:cs typeface="Arial"/>
              </a:defRPr>
            </a:pPr>
            <a:r>
              <a:rPr sz="1725" b="1">
                <a:solidFill>
                  <a:srgbClr val="17365D"/>
                </a:solidFill>
                <a:latin typeface="Arial"/>
                <a:ea typeface="Arial"/>
                <a:cs typeface="Arial"/>
              </a:rPr>
              <a:t>Retrieval</a:t>
            </a:r>
          </a:p>
          <a:p xmlns:a="http://schemas.openxmlformats.org/drawingml/2006/main">
            <a:pPr algn="ctr">
              <a:spcAft>
                <a:spcPts val="0"/>
              </a:spcAft>
              <a:defRPr sz="1725" b="0">
                <a:solidFill>
                  <a:srgbClr val="17365D"/>
                </a:solidFill>
                <a:latin typeface="Arial"/>
                <a:ea typeface="Arial"/>
                <a:cs typeface="Arial"/>
              </a:defRPr>
            </a:pPr>
            <a:r>
              <a:rPr sz="1425" b="0">
                <a:solidFill>
                  <a:srgbClr val="193047"/>
                </a:solidFill>
                <a:latin typeface="Arial"/>
                <a:ea typeface="Arial"/>
                <a:cs typeface="Arial"/>
              </a:rPr>
              <a:t>BM25 + dense</a:t>
            </a:r>
          </a:p>
          <a:p xmlns:a="http://schemas.openxmlformats.org/drawingml/2006/main">
            <a:pPr algn="ctr">
              <a:spcAft>
                <a:spcPts val="0"/>
              </a:spcAft>
              <a:defRPr sz="1725" b="0">
                <a:solidFill>
                  <a:srgbClr val="17365D"/>
                </a:solidFill>
                <a:latin typeface="Arial"/>
                <a:ea typeface="Arial"/>
                <a:cs typeface="Arial"/>
              </a:defRPr>
            </a:pPr>
            <a:r>
              <a:rPr sz="1425" b="0">
                <a:solidFill>
                  <a:srgbClr val="193047"/>
                </a:solidFill>
                <a:latin typeface="Arial"/>
                <a:ea typeface="Arial"/>
                <a:cs typeface="Arial"/>
              </a:rPr>
              <a:t>BGE-M3 + reranker</a:t>
            </a:r>
          </a:p>
        </p:txBody>
      </p:sp>
      <p:sp>
        <p:nvSpPr>
          <p:cNvPr id="17419" name="Grounding">
            <a:extLst xmlns:a="http://schemas.openxmlformats.org/drawingml/2006/main">
              <a:ext uri="{FF2B5EF4-FFF2-40B4-BE49-F238E27FC236}">
                <a16:creationId xmlns:a16="http://schemas.microsoft.com/office/drawing/2014/main" id="{01470CCF-B1C7-4076-8A20-720C20FD7E56}"/>
              </a:ext>
            </a:extLst>
          </p:cNvPr>
          <p:cNvSpPr>
            <a:spLocks xmlns:a="http://schemas.openxmlformats.org/drawingml/2006/main" noGrp="1"/>
          </p:cNvSpPr>
          <p:nvPr/>
        </p:nvSpPr>
        <p:spPr>
          <a:xfrm xmlns:a="http://schemas.openxmlformats.org/drawingml/2006/main">
            <a:off x="7096125" y="3438525"/>
            <a:ext cx="1847850" cy="1009650"/>
          </a:xfrm>
          <a:prstGeom xmlns:a="http://schemas.openxmlformats.org/drawingml/2006/main" prst="roundRect">
            <a:avLst>
              <a:gd name="adj" fmla="val 6604"/>
            </a:avLst>
          </a:prstGeom>
          <a:solidFill xmlns:a="http://schemas.openxmlformats.org/drawingml/2006/main">
            <a:srgbClr val="EDF3F9"/>
          </a:solidFill>
          <a:ln xmlns:a="http://schemas.openxmlformats.org/drawingml/2006/main" w="17145">
            <a:solidFill>
              <a:srgbClr val="245C91"/>
            </a:solidFill>
            <a:prstDash val="solid"/>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420"/>
              </a:spcAft>
              <a:defRPr sz="1725" b="0">
                <a:solidFill>
                  <a:srgbClr val="17365D"/>
                </a:solidFill>
                <a:latin typeface="Arial"/>
                <a:ea typeface="Arial"/>
                <a:cs typeface="Arial"/>
              </a:defRPr>
            </a:pPr>
            <a:r>
              <a:rPr sz="1725" b="1">
                <a:solidFill>
                  <a:srgbClr val="17365D"/>
                </a:solidFill>
                <a:latin typeface="Arial"/>
                <a:ea typeface="Arial"/>
                <a:cs typeface="Arial"/>
              </a:rPr>
              <a:t>Grounding</a:t>
            </a:r>
          </a:p>
          <a:p xmlns:a="http://schemas.openxmlformats.org/drawingml/2006/main">
            <a:pPr algn="ctr">
              <a:spcAft>
                <a:spcPts val="0"/>
              </a:spcAft>
              <a:defRPr sz="1725" b="0">
                <a:solidFill>
                  <a:srgbClr val="17365D"/>
                </a:solidFill>
                <a:latin typeface="Arial"/>
                <a:ea typeface="Arial"/>
                <a:cs typeface="Arial"/>
              </a:defRPr>
            </a:pPr>
            <a:r>
              <a:rPr sz="1425" b="0">
                <a:solidFill>
                  <a:srgbClr val="193047"/>
                </a:solidFill>
                <a:latin typeface="Arial"/>
                <a:ea typeface="Arial"/>
                <a:cs typeface="Arial"/>
              </a:rPr>
              <a:t>Open-weight LLM</a:t>
            </a:r>
          </a:p>
          <a:p xmlns:a="http://schemas.openxmlformats.org/drawingml/2006/main">
            <a:pPr algn="ctr">
              <a:spcAft>
                <a:spcPts val="0"/>
              </a:spcAft>
              <a:defRPr sz="1725" b="0">
                <a:solidFill>
                  <a:srgbClr val="17365D"/>
                </a:solidFill>
                <a:latin typeface="Arial"/>
                <a:ea typeface="Arial"/>
                <a:cs typeface="Arial"/>
              </a:defRPr>
            </a:pPr>
            <a:r>
              <a:rPr sz="1425" b="0">
                <a:solidFill>
                  <a:srgbClr val="193047"/>
                </a:solidFill>
                <a:latin typeface="Arial"/>
                <a:ea typeface="Arial"/>
                <a:cs typeface="Arial"/>
              </a:rPr>
              <a:t>Retrieved text only</a:t>
            </a:r>
          </a:p>
        </p:txBody>
      </p:sp>
      <p:sp>
        <p:nvSpPr>
          <p:cNvPr id="17420" name="Citation verification">
            <a:extLst xmlns:a="http://schemas.openxmlformats.org/drawingml/2006/main">
              <a:ext uri="{FF2B5EF4-FFF2-40B4-BE49-F238E27FC236}">
                <a16:creationId xmlns:a16="http://schemas.microsoft.com/office/drawing/2014/main" id="{FF539E6E-C1B9-4B43-B347-85D3B562A47A}"/>
              </a:ext>
            </a:extLst>
          </p:cNvPr>
          <p:cNvSpPr>
            <a:spLocks xmlns:a="http://schemas.openxmlformats.org/drawingml/2006/main" noGrp="1"/>
          </p:cNvSpPr>
          <p:nvPr/>
        </p:nvSpPr>
        <p:spPr>
          <a:xfrm xmlns:a="http://schemas.openxmlformats.org/drawingml/2006/main">
            <a:off x="9248775" y="3209925"/>
            <a:ext cx="2514600" cy="1466850"/>
          </a:xfrm>
          <a:prstGeom xmlns:a="http://schemas.openxmlformats.org/drawingml/2006/main" prst="diamond">
            <a:avLst/>
          </a:prstGeom>
          <a:solidFill xmlns:a="http://schemas.openxmlformats.org/drawingml/2006/main">
            <a:srgbClr val="FFF5E2"/>
          </a:solidFill>
          <a:ln xmlns:a="http://schemas.openxmlformats.org/drawingml/2006/main" w="17145">
            <a:solidFill>
              <a:srgbClr val="986216"/>
            </a:solid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spcAft>
                <a:spcPts val="420"/>
              </a:spcAft>
              <a:defRPr sz="1650" b="0">
                <a:solidFill>
                  <a:srgbClr val="986216"/>
                </a:solidFill>
                <a:latin typeface="Arial"/>
                <a:ea typeface="Arial"/>
                <a:cs typeface="Arial"/>
              </a:defRPr>
            </a:pPr>
            <a:r>
              <a:rPr sz="1650" b="1">
                <a:solidFill>
                  <a:srgbClr val="986216"/>
                </a:solidFill>
                <a:latin typeface="Arial"/>
                <a:ea typeface="Arial"/>
                <a:cs typeface="Arial"/>
              </a:rPr>
              <a:t>Citation</a:t>
            </a:r>
            <a:br>
              <a:rPr sz="1650" b="1">
                <a:solidFill>
                  <a:srgbClr val="986216"/>
                </a:solidFill>
                <a:latin typeface="Arial"/>
                <a:ea typeface="Arial"/>
                <a:cs typeface="Arial"/>
              </a:rPr>
            </a:br>
            <a:r>
              <a:rPr sz="1650" b="1">
                <a:solidFill>
                  <a:srgbClr val="986216"/>
                </a:solidFill>
                <a:latin typeface="Arial"/>
                <a:ea typeface="Arial"/>
                <a:cs typeface="Arial"/>
              </a:rPr>
              <a:t>verification</a:t>
            </a:r>
          </a:p>
          <a:p xmlns:a="http://schemas.openxmlformats.org/drawingml/2006/main">
            <a:pPr algn="ctr">
              <a:spcAft>
                <a:spcPts val="0"/>
              </a:spcAft>
              <a:defRPr sz="1650" b="0">
                <a:solidFill>
                  <a:srgbClr val="986216"/>
                </a:solidFill>
                <a:latin typeface="Arial"/>
                <a:ea typeface="Arial"/>
                <a:cs typeface="Arial"/>
              </a:defRPr>
            </a:pPr>
            <a:r>
              <a:rPr sz="1350" b="0">
                <a:solidFill>
                  <a:srgbClr val="193047"/>
                </a:solidFill>
                <a:latin typeface="Arial"/>
                <a:ea typeface="Arial"/>
                <a:cs typeface="Arial"/>
              </a:rPr>
              <a:t>Section + support</a:t>
            </a:r>
          </a:p>
        </p:txBody>
      </p:sp>
      <p:sp>
        <p:nvSpPr>
          <p:cNvPr id="17421" name="Abstention">
            <a:extLst xmlns:a="http://schemas.openxmlformats.org/drawingml/2006/main">
              <a:ext uri="{FF2B5EF4-FFF2-40B4-BE49-F238E27FC236}">
                <a16:creationId xmlns:a16="http://schemas.microsoft.com/office/drawing/2014/main" id="{3701363E-9E4C-4FD2-A13D-F9975950C393}"/>
              </a:ext>
            </a:extLst>
          </p:cNvPr>
          <p:cNvSpPr>
            <a:spLocks xmlns:a="http://schemas.openxmlformats.org/drawingml/2006/main" noGrp="1"/>
          </p:cNvSpPr>
          <p:nvPr/>
        </p:nvSpPr>
        <p:spPr>
          <a:xfrm xmlns:a="http://schemas.openxmlformats.org/drawingml/2006/main">
            <a:off x="9220200" y="5276850"/>
            <a:ext cx="2571750" cy="752475"/>
          </a:xfrm>
          <a:prstGeom xmlns:a="http://schemas.openxmlformats.org/drawingml/2006/main" prst="roundRect">
            <a:avLst>
              <a:gd name="adj" fmla="val 8861"/>
            </a:avLst>
          </a:prstGeom>
          <a:solidFill xmlns:a="http://schemas.openxmlformats.org/drawingml/2006/main">
            <a:srgbClr val="FBEFEF"/>
          </a:solidFill>
          <a:ln xmlns:a="http://schemas.openxmlformats.org/drawingml/2006/main" w="17145">
            <a:solidFill>
              <a:srgbClr val="A13434"/>
            </a:solidFill>
            <a:prstDash val="solid"/>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420"/>
              </a:spcAft>
              <a:defRPr sz="1725" b="0">
                <a:solidFill>
                  <a:srgbClr val="A13434"/>
                </a:solidFill>
                <a:latin typeface="Arial"/>
                <a:ea typeface="Arial"/>
                <a:cs typeface="Arial"/>
              </a:defRPr>
            </a:pPr>
            <a:r>
              <a:rPr sz="1725" b="1">
                <a:solidFill>
                  <a:srgbClr val="A13434"/>
                </a:solidFill>
                <a:latin typeface="Arial"/>
                <a:ea typeface="Arial"/>
                <a:cs typeface="Arial"/>
              </a:rPr>
              <a:t>Abstention</a:t>
            </a:r>
          </a:p>
          <a:p xmlns:a="http://schemas.openxmlformats.org/drawingml/2006/main">
            <a:pPr algn="ctr">
              <a:spcAft>
                <a:spcPts val="0"/>
              </a:spcAft>
              <a:defRPr sz="1725" b="0">
                <a:solidFill>
                  <a:srgbClr val="A13434"/>
                </a:solidFill>
                <a:latin typeface="Arial"/>
                <a:ea typeface="Arial"/>
                <a:cs typeface="Arial"/>
              </a:defRPr>
            </a:pPr>
            <a:r>
              <a:rPr sz="1425" b="0">
                <a:solidFill>
                  <a:srgbClr val="193047"/>
                </a:solidFill>
                <a:latin typeface="Arial"/>
                <a:ea typeface="Arial"/>
                <a:cs typeface="Arial"/>
              </a:rPr>
              <a:t>No substantive answer</a:t>
            </a:r>
          </a:p>
        </p:txBody>
      </p:sp>
      <p:sp>
        <p:nvSpPr>
          <p:cNvPr id="17422" name="Human escalation">
            <a:extLst xmlns:a="http://schemas.openxmlformats.org/drawingml/2006/main">
              <a:ext uri="{FF2B5EF4-FFF2-40B4-BE49-F238E27FC236}">
                <a16:creationId xmlns:a16="http://schemas.microsoft.com/office/drawing/2014/main" id="{2929B78E-0105-4FFA-9AF6-9FDD3AC48FB4}"/>
              </a:ext>
            </a:extLst>
          </p:cNvPr>
          <p:cNvSpPr>
            <a:spLocks xmlns:a="http://schemas.openxmlformats.org/drawingml/2006/main" noGrp="1"/>
          </p:cNvSpPr>
          <p:nvPr/>
        </p:nvSpPr>
        <p:spPr>
          <a:xfrm xmlns:a="http://schemas.openxmlformats.org/drawingml/2006/main">
            <a:off x="6296025" y="5276850"/>
            <a:ext cx="2381250" cy="752475"/>
          </a:xfrm>
          <a:prstGeom xmlns:a="http://schemas.openxmlformats.org/drawingml/2006/main" prst="roundRect">
            <a:avLst>
              <a:gd name="adj" fmla="val 8861"/>
            </a:avLst>
          </a:prstGeom>
          <a:solidFill xmlns:a="http://schemas.openxmlformats.org/drawingml/2006/main">
            <a:srgbClr val="F4F7F9"/>
          </a:solidFill>
          <a:ln xmlns:a="http://schemas.openxmlformats.org/drawingml/2006/main" w="17145">
            <a:solidFill>
              <a:srgbClr val="556575"/>
            </a:solidFill>
            <a:prstDash val="solid"/>
          </a:ln>
        </p:spPr>
        <p:txBody>
          <a:bodyPr xmlns:a="http://schemas.openxmlformats.org/drawingml/2006/main" wrap="square" lIns="95250" tIns="95250" rIns="95250" bIns="95250" anchor="ctr">
            <a:noAutofit/>
          </a:bodyPr>
          <a:lstStyle xmlns:a="http://schemas.openxmlformats.org/drawingml/2006/main"/>
          <a:p xmlns:a="http://schemas.openxmlformats.org/drawingml/2006/main">
            <a:pPr algn="ctr">
              <a:spcAft>
                <a:spcPts val="420"/>
              </a:spcAft>
              <a:defRPr sz="1650" b="0">
                <a:solidFill>
                  <a:srgbClr val="193047"/>
                </a:solidFill>
                <a:latin typeface="Arial"/>
                <a:ea typeface="Arial"/>
                <a:cs typeface="Arial"/>
              </a:defRPr>
            </a:pPr>
            <a:r>
              <a:rPr sz="1650" b="1">
                <a:solidFill>
                  <a:srgbClr val="193047"/>
                </a:solidFill>
                <a:latin typeface="Arial"/>
                <a:ea typeface="Arial"/>
                <a:cs typeface="Arial"/>
              </a:rPr>
              <a:t>Human escalation</a:t>
            </a:r>
          </a:p>
          <a:p xmlns:a="http://schemas.openxmlformats.org/drawingml/2006/main">
            <a:pPr algn="ctr">
              <a:spcAft>
                <a:spcPts val="0"/>
              </a:spcAft>
              <a:defRPr sz="1650" b="0">
                <a:solidFill>
                  <a:srgbClr val="193047"/>
                </a:solidFill>
                <a:latin typeface="Arial"/>
                <a:ea typeface="Arial"/>
                <a:cs typeface="Arial"/>
              </a:defRPr>
            </a:pPr>
            <a:r>
              <a:rPr sz="1350" b="0">
                <a:solidFill>
                  <a:srgbClr val="193047"/>
                </a:solidFill>
                <a:latin typeface="Arial"/>
                <a:ea typeface="Arial"/>
                <a:cs typeface="Arial"/>
              </a:rPr>
              <a:t>Authority / qualified expert</a:t>
            </a:r>
          </a:p>
        </p:txBody>
      </p:sp>
      <p:sp>
        <p:nvSpPr>
          <p:cNvPr id="17433" name="Language conversion label">
            <a:extLst xmlns:a="http://schemas.openxmlformats.org/drawingml/2006/main">
              <a:ext uri="{FF2B5EF4-FFF2-40B4-BE49-F238E27FC236}">
                <a16:creationId xmlns:a16="http://schemas.microsoft.com/office/drawing/2014/main" id="{8CF3868B-1A74-4EB4-8BAA-454CE99BCE92}"/>
              </a:ext>
            </a:extLst>
          </p:cNvPr>
          <p:cNvSpPr>
            <a:spLocks xmlns:a="http://schemas.openxmlformats.org/drawingml/2006/main" noGrp="1"/>
          </p:cNvSpPr>
          <p:nvPr/>
        </p:nvSpPr>
        <p:spPr>
          <a:xfrm xmlns:a="http://schemas.openxmlformats.org/drawingml/2006/main">
            <a:off x="1495425" y="3086100"/>
            <a:ext cx="1838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56575"/>
                </a:solidFill>
                <a:latin typeface="Arial"/>
                <a:ea typeface="Arial"/>
                <a:cs typeface="Arial"/>
              </a:defRPr>
            </a:pPr>
            <a:r>
              <a:t>Translate query</a:t>
            </a:r>
          </a:p>
        </p:txBody>
      </p:sp>
      <p:sp>
        <p:nvSpPr>
          <p:cNvPr id="17434" name="Corpus filter label">
            <a:extLst xmlns:a="http://schemas.openxmlformats.org/drawingml/2006/main">
              <a:ext uri="{FF2B5EF4-FFF2-40B4-BE49-F238E27FC236}">
                <a16:creationId xmlns:a16="http://schemas.microsoft.com/office/drawing/2014/main" id="{DE60813F-802D-4B04-98F4-F57A15383794}"/>
              </a:ext>
            </a:extLst>
          </p:cNvPr>
          <p:cNvSpPr>
            <a:spLocks xmlns:a="http://schemas.openxmlformats.org/drawingml/2006/main" noGrp="1"/>
          </p:cNvSpPr>
          <p:nvPr/>
        </p:nvSpPr>
        <p:spPr>
          <a:xfrm xmlns:a="http://schemas.openxmlformats.org/drawingml/2006/main">
            <a:off x="5905500" y="3124200"/>
            <a:ext cx="2314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0B716A"/>
                </a:solidFill>
                <a:latin typeface="Arial"/>
                <a:ea typeface="Arial"/>
                <a:cs typeface="Arial"/>
              </a:defRPr>
            </a:pPr>
            <a:r>
              <a:t>Filtered evidence</a:t>
            </a:r>
          </a:p>
        </p:txBody>
      </p:sp>
      <p:sp>
        <p:nvSpPr>
          <p:cNvPr id="17435" name="Verification passes">
            <a:extLst xmlns:a="http://schemas.openxmlformats.org/drawingml/2006/main">
              <a:ext uri="{FF2B5EF4-FFF2-40B4-BE49-F238E27FC236}">
                <a16:creationId xmlns:a16="http://schemas.microsoft.com/office/drawing/2014/main" id="{254E0995-26B4-4BC4-B210-6DAD699E84EF}"/>
              </a:ext>
            </a:extLst>
          </p:cNvPr>
          <p:cNvSpPr>
            <a:spLocks xmlns:a="http://schemas.openxmlformats.org/drawingml/2006/main" noGrp="1"/>
          </p:cNvSpPr>
          <p:nvPr/>
        </p:nvSpPr>
        <p:spPr>
          <a:xfrm xmlns:a="http://schemas.openxmlformats.org/drawingml/2006/main">
            <a:off x="10763250" y="2962275"/>
            <a:ext cx="1000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B716A"/>
                </a:solidFill>
                <a:latin typeface="Arial"/>
                <a:ea typeface="Arial"/>
                <a:cs typeface="Arial"/>
              </a:defRPr>
            </a:pPr>
            <a:r>
              <a:t>PASS</a:t>
            </a:r>
          </a:p>
        </p:txBody>
      </p:sp>
      <p:sp>
        <p:nvSpPr>
          <p:cNvPr id="17436" name="Verification fails">
            <a:extLst xmlns:a="http://schemas.openxmlformats.org/drawingml/2006/main">
              <a:ext uri="{FF2B5EF4-FFF2-40B4-BE49-F238E27FC236}">
                <a16:creationId xmlns:a16="http://schemas.microsoft.com/office/drawing/2014/main" id="{083BFD9E-2110-4959-95D0-4ACE449FAEAA}"/>
              </a:ext>
            </a:extLst>
          </p:cNvPr>
          <p:cNvSpPr>
            <a:spLocks xmlns:a="http://schemas.openxmlformats.org/drawingml/2006/main" noGrp="1"/>
          </p:cNvSpPr>
          <p:nvPr/>
        </p:nvSpPr>
        <p:spPr>
          <a:xfrm xmlns:a="http://schemas.openxmlformats.org/drawingml/2006/main">
            <a:off x="10753725" y="4867275"/>
            <a:ext cx="914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A13434"/>
                </a:solidFill>
                <a:latin typeface="Arial"/>
                <a:ea typeface="Arial"/>
                <a:cs typeface="Arial"/>
              </a:defRPr>
            </a:pPr>
            <a:r>
              <a:t>FAIL</a:t>
            </a:r>
          </a:p>
        </p:txBody>
      </p:sp>
      <p:sp>
        <p:nvSpPr>
          <p:cNvPr id="17437" name="Input uncertainty branch">
            <a:extLst xmlns:a="http://schemas.openxmlformats.org/drawingml/2006/main">
              <a:ext uri="{FF2B5EF4-FFF2-40B4-BE49-F238E27FC236}">
                <a16:creationId xmlns:a16="http://schemas.microsoft.com/office/drawing/2014/main" id="{11329D93-77BE-44CC-964C-612F77A9584D}"/>
              </a:ext>
            </a:extLst>
          </p:cNvPr>
          <p:cNvSpPr>
            <a:spLocks xmlns:a="http://schemas.openxmlformats.org/drawingml/2006/main" noGrp="1"/>
          </p:cNvSpPr>
          <p:nvPr/>
        </p:nvSpPr>
        <p:spPr>
          <a:xfrm xmlns:a="http://schemas.openxmlformats.org/drawingml/2006/main">
            <a:off x="4333875" y="4648200"/>
            <a:ext cx="4410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A13434"/>
                </a:solidFill>
                <a:latin typeface="Arial"/>
                <a:ea typeface="Arial"/>
                <a:cs typeface="Arial"/>
              </a:defRPr>
            </a:pPr>
            <a:r>
              <a:t>Unclear classification / jurisdiction</a:t>
            </a:r>
          </a:p>
        </p:txBody>
      </p:sp>
      <p:sp>
        <p:nvSpPr>
          <p:cNvPr id="17438" name="Corpus boundary">
            <a:extLst xmlns:a="http://schemas.openxmlformats.org/drawingml/2006/main">
              <a:ext uri="{FF2B5EF4-FFF2-40B4-BE49-F238E27FC236}">
                <a16:creationId xmlns:a16="http://schemas.microsoft.com/office/drawing/2014/main" id="{41ADD4D2-EC58-475A-94CD-6F296459C1C4}"/>
              </a:ext>
            </a:extLst>
          </p:cNvPr>
          <p:cNvSpPr>
            <a:spLocks xmlns:a="http://schemas.openxmlformats.org/drawingml/2006/main" noGrp="1"/>
          </p:cNvSpPr>
          <p:nvPr/>
        </p:nvSpPr>
        <p:spPr>
          <a:xfrm xmlns:a="http://schemas.openxmlformats.org/drawingml/2006/main">
            <a:off x="428625" y="6096000"/>
            <a:ext cx="11344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56575"/>
                </a:solidFill>
                <a:latin typeface="Arial"/>
                <a:ea typeface="Arial"/>
                <a:cs typeface="Arial"/>
              </a:defRPr>
            </a:pPr>
            <a:r>
              <a:t>The curated corpus excludes TKDL. Original statutory wording remains available with the answer.</a:t>
            </a:r>
          </a:p>
        </p:txBody>
      </p:sp>
    </p:spTree>
    <p:extLst>
      <p:ext uri="{BB962C8B-B14F-4D97-AF65-F5344CB8AC3E}">
        <p14:creationId xmlns:p14="http://schemas.microsoft.com/office/powerpoint/2010/main" val="7224760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cxnSp>
        <p:nvCxnSpPr>
          <p:cNvPr id="17427" name=""/>
          <p:cNvCxnSpPr>
            <a:stCxn xmlns:a="http://schemas.openxmlformats.org/drawingml/2006/main" id="17422" idx="3"/>
            <a:endCxn xmlns:a="http://schemas.openxmlformats.org/drawingml/2006/main" id="17423" idx="1"/>
          </p:cNvCxnSpPr>
          <p:nvPr/>
        </p:nvCxnSpPr>
        <p:spPr>
          <a:xfrm xmlns:a="http://schemas.openxmlformats.org/drawingml/2006/main">
            <a:off x="8315325" y="5943600"/>
            <a:ext cx="828675" cy="0"/>
          </a:xfrm>
          <a:prstGeom xmlns:a="http://schemas.openxmlformats.org/drawingml/2006/main" prst="straightConnector1">
            <a:avLst/>
          </a:prstGeom>
          <a:ln xmlns:a="http://schemas.openxmlformats.org/drawingml/2006/main" w="19050">
            <a:solidFill>
              <a:srgbClr val="556575"/>
            </a:solidFill>
            <a:prstDash val="solid"/>
            <a:tailEnd type="triangle" w="med" len="med"/>
          </a:ln>
        </p:spPr>
      </p:cxnSp>
      <p:cxnSp>
        <p:nvCxnSpPr>
          <p:cNvPr id="17428" name=""/>
          <p:cNvCxnSpPr>
            <a:stCxn xmlns:a="http://schemas.openxmlformats.org/drawingml/2006/main" id="17421" idx="3"/>
            <a:endCxn xmlns:a="http://schemas.openxmlformats.org/drawingml/2006/main" id="17422" idx="1"/>
          </p:cNvCxnSpPr>
          <p:nvPr/>
        </p:nvCxnSpPr>
        <p:spPr>
          <a:xfrm xmlns:a="http://schemas.openxmlformats.org/drawingml/2006/main">
            <a:off x="5334000" y="5943600"/>
            <a:ext cx="781050" cy="0"/>
          </a:xfrm>
          <a:prstGeom xmlns:a="http://schemas.openxmlformats.org/drawingml/2006/main" prst="straightConnector1">
            <a:avLst/>
          </a:prstGeom>
          <a:ln xmlns:a="http://schemas.openxmlformats.org/drawingml/2006/main" w="19050">
            <a:solidFill>
              <a:srgbClr val="A13434"/>
            </a:solidFill>
            <a:prstDash val="solid"/>
            <a:tailEnd type="triangle" w="med" len="med"/>
          </a:ln>
        </p:spPr>
      </p:cxnSp>
      <p:cxnSp>
        <p:nvCxnSpPr>
          <p:cNvPr id="17429" name=""/>
          <p:cNvCxnSpPr>
            <a:stCxn xmlns:a="http://schemas.openxmlformats.org/drawingml/2006/main" id="17420" idx="3"/>
            <a:endCxn xmlns:a="http://schemas.openxmlformats.org/drawingml/2006/main" id="17421" idx="1"/>
          </p:cNvCxnSpPr>
          <p:nvPr/>
        </p:nvCxnSpPr>
        <p:spPr>
          <a:xfrm xmlns:a="http://schemas.openxmlformats.org/drawingml/2006/main">
            <a:off x="3152775" y="5943600"/>
            <a:ext cx="333375" cy="0"/>
          </a:xfrm>
          <a:prstGeom xmlns:a="http://schemas.openxmlformats.org/drawingml/2006/main" prst="straightConnector1">
            <a:avLst/>
          </a:prstGeom>
          <a:ln xmlns:a="http://schemas.openxmlformats.org/drawingml/2006/main" w="19050">
            <a:solidFill>
              <a:srgbClr val="A13434"/>
            </a:solidFill>
            <a:prstDash val="solid"/>
            <a:tailEnd type="triangle" w="med" len="med"/>
          </a:ln>
        </p:spPr>
      </p:cxnSp>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7365D"/>
          </a:solidFill>
          <a:ln xmlns:a="http://schemas.openxmlformats.org/drawingml/2006/main" w="0">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2EB3907C-0575-46E9-98AC-D53621796626}"/>
              </a:ext>
            </a:extLst>
          </p:cNvPr>
          <p:cNvSpPr>
            <a:spLocks xmlns:a="http://schemas.openxmlformats.org/drawingml/2006/main" noGrp="1"/>
          </p:cNvSpPr>
          <p:nvPr>
            <p:ph type="title" idx="0"/>
          </p:nvPr>
        </p:nvSpPr>
        <p:spPr>
          <a:xfrm xmlns:a="http://schemas.openxmlformats.org/drawingml/2006/main">
            <a:off x="1828800" y="323850"/>
            <a:ext cx="7867650" cy="609600"/>
          </a:xfrm>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3000" b="1">
                <a:solidFill>
                  <a:srgbClr val="17365D"/>
                </a:solidFill>
                <a:latin typeface="Arial"/>
                <a:ea typeface="Arial"/>
                <a:cs typeface="Arial"/>
              </a:defRPr>
            </a:pPr>
            <a:r>
              <a:rPr sz="3000" b="1">
                <a:solidFill>
                  <a:srgbClr val="17365D"/>
                </a:solidFill>
                <a:latin typeface="Arial"/>
                <a:ea typeface="Arial"/>
                <a:cs typeface="Arial"/>
              </a:rPr>
              <a:t>FEASIBILITY AND VIABILITY</a:t>
            </a:r>
          </a:p>
        </p:txBody>
      </p:sp>
      <p:sp>
        <p:nvSpPr>
          <p:cNvPr id="6" name="Slide Number Placeholder 5">
            <a:extLst xmlns:a="http://schemas.openxmlformats.org/drawingml/2006/main">
              <a:ext uri="{FF2B5EF4-FFF2-40B4-BE49-F238E27FC236}">
                <a16:creationId xmlns:a16="http://schemas.microsoft.com/office/drawing/2014/main" id="{23CF4F65-0699-4D03-B98F-1A1804FDA423}"/>
              </a:ext>
            </a:extLst>
          </p:cNvPr>
          <p:cNvSpPr>
            <a:spLocks xmlns:a="http://schemas.openxmlformats.org/drawingml/2006/main" noGrp="1"/>
          </p:cNvSpPr>
          <p:nvPr>
            <p:ph type="sldNum" idx="12"/>
          </p:nvPr>
        </p:nvSpPr>
        <p:spPr>
          <a:xfrm xmlns:a="http://schemas.openxmlformats.org/drawingml/2006/main">
            <a:off x="10953750" y="6391275"/>
            <a:ext cx="619125" cy="333375"/>
          </a:xfrm>
        </p:spPr>
        <p:txBody>
          <a:bodyPr xmlns:a="http://schemas.openxmlformats.org/drawingml/2006/main" wrap="square" lIns="0" tIns="0" rIns="0" bIns="0" anchor="ctr">
            <a:noAutofit/>
          </a:bodyPr>
          <a:lstStyle xmlns:a="http://schemas.openxmlformats.org/drawingml/2006/main"/>
          <a:p xmlns:a="http://schemas.openxmlformats.org/drawingml/2006/main">
            <a:pPr marL="0" marR="0" lvl="0" indent="0" algn="r" defTabSz="457200">
              <a:lnSpc>
                <a:spcPct val="105000"/>
              </a:lnSpc>
              <a:spcBef>
                <a:spcPct val="0"/>
              </a:spcBef>
              <a:spcAft>
                <a:spcPct val="0"/>
              </a:spcAft>
              <a:buClrTx/>
              <a:buSzTx/>
              <a:buFontTx/>
              <a:buNone/>
              <a:defRPr sz="1200" b="1">
                <a:solidFill>
                  <a:srgbClr val="FFFFFF"/>
                </a:solidFill>
                <a:latin typeface="Arial"/>
                <a:ea typeface="Arial"/>
                <a:cs typeface="Arial"/>
              </a:defRPr>
            </a:pPr>
            <a:fld id="{EFD6AB9A-5F9E-5F59-51AB-3C8734130965}" type="slidenum">
              <a:rPr sz="1200"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65D8869E-CE00-4073-B01F-8CA06460822F}"/>
              </a:ext>
            </a:extLst>
          </p:cNvPr>
          <p:cNvSpPr>
            <a:spLocks xmlns:a="http://schemas.openxmlformats.org/drawingml/2006/main" noGrp="1"/>
          </p:cNvSpPr>
          <p:nvPr>
            <p:ph type="ftr" idx="11"/>
          </p:nvPr>
        </p:nvSpPr>
        <p:spPr>
          <a:xfrm xmlns:a="http://schemas.openxmlformats.org/drawingml/2006/main">
            <a:off x="4257675" y="6391275"/>
            <a:ext cx="3914775" cy="333375"/>
          </a:xfrm>
        </p:spPr>
        <p:txBody>
          <a:bodyPr xmlns:a="http://schemas.openxmlformats.org/drawingml/2006/main" wrap="square" lIns="0" tIns="0" rIns="0" bIns="0" anchor="ctr">
            <a:noAutofit/>
          </a:bodyPr>
          <a:lstStyle xmlns:a="http://schemas.openxmlformats.org/drawingml/2006/main"/>
          <a:p xmlns:a="http://schemas.openxmlformats.org/drawingml/2006/main">
            <a:pPr marL="0" marR="0" lvl="0" indent="0" algn="ctr" defTabSz="457200">
              <a:lnSpc>
                <a:spcPct val="105000"/>
              </a:lnSpc>
              <a:spcBef>
                <a:spcPts val="0"/>
              </a:spcBef>
              <a:spcAft>
                <a:spcPts val="0"/>
              </a:spcAft>
              <a:buClrTx/>
              <a:buSzTx/>
              <a:buFontTx/>
              <a:buNone/>
              <a:defRPr sz="1163" b="0">
                <a:solidFill>
                  <a:srgbClr val="FFFFFF"/>
                </a:solidFill>
                <a:latin typeface="Arial"/>
                <a:ea typeface="Arial"/>
                <a:cs typeface="Arial"/>
              </a:defRPr>
            </a:pPr>
            <a:r>
              <a:rPr sz="1163" b="0" i="0" u="none" cap="none" spc="0">
                <a:ln>
                  <a:noFill/>
                </a:ln>
                <a:solidFill>
                  <a:srgbClr val="FFFFFF"/>
                </a:solidFill>
                <a:latin typeface="Arial"/>
                <a:ea typeface="Arial"/>
                <a:cs typeface="Arial"/>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FFFFFF"/>
          </a:solidFill>
          <a:ln xmlns:a="http://schemas.openxmlformats.org/drawingml/2006/main" w="15240">
            <a:solidFill>
              <a:srgbClr val="17365D"/>
            </a:solidFill>
            <a:prstDash val="solid"/>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5000"/>
              </a:lnSpc>
              <a:buNone/>
              <a:defRPr sz="1725" b="1">
                <a:solidFill>
                  <a:srgbClr val="17365D"/>
                </a:solidFill>
                <a:latin typeface="Arial"/>
                <a:ea typeface="Arial"/>
                <a:cs typeface="Arial"/>
              </a:defRPr>
            </a:pPr>
            <a:r>
              <a:rPr sz="1725" b="1">
                <a:solidFill>
                  <a:srgbClr val="17365D"/>
                </a:solidFill>
                <a:latin typeface="Arial"/>
                <a:ea typeface="Arial"/>
                <a:cs typeface="Arial"/>
              </a:rPr>
              <a:t>Victor</a:t>
            </a:r>
            <a:endParaRPr/>
          </a:p>
          <a:p xmlns:a="http://schemas.openxmlformats.org/drawingml/2006/main">
            <a:pPr algn="ctr">
              <a:lnSpc>
                <a:spcPct val="105000"/>
              </a:lnSpc>
              <a:buNone/>
              <a:defRPr sz="1725" b="1">
                <a:solidFill>
                  <a:srgbClr val="17365D"/>
                </a:solidFill>
                <a:latin typeface="Arial"/>
                <a:ea typeface="Arial"/>
                <a:cs typeface="Arial"/>
              </a:defRPr>
            </a:pPr>
            <a:r>
              <a:rPr sz="1725" b="1">
                <a:solidFill>
                  <a:srgbClr val="17365D"/>
                </a:solidFill>
                <a:latin typeface="Arial"/>
                <a:ea typeface="Arial"/>
                <a:cs typeface="Arial"/>
              </a:rPr>
              <a:t>Bytes</a:t>
            </a:r>
            <a:endParaRPr/>
          </a:p>
        </p:txBody>
      </p:sp>
      <p:pic>
        <p:nvPicPr>
          <p:cNvPr id="17435" name="Picture 10"/>
          <p:cNvPicPr>
            <a:picLocks xmlns:a="http://schemas.openxmlformats.org/drawingml/2006/main" noChangeAspect="1"/>
          </p:cNvPicPr>
          <p:nvPr/>
        </p:nvPicPr>
        <p:blipFill>
          <a:blip xmlns:r="http://schemas.openxmlformats.org/officeDocument/2006/relationships" xmlns:a="http://schemas.openxmlformats.org/drawingml/2006/main" r:embed="R5e4d75ee9b7749a7"/>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MVP scope title">
            <a:extLst xmlns:a="http://schemas.openxmlformats.org/drawingml/2006/main">
              <a:ext uri="{FF2B5EF4-FFF2-40B4-BE49-F238E27FC236}">
                <a16:creationId xmlns:a16="http://schemas.microsoft.com/office/drawing/2014/main" id="{79E68D17-8C9C-40A6-B3DF-597B8CA8F029}"/>
              </a:ext>
            </a:extLst>
          </p:cNvPr>
          <p:cNvSpPr>
            <a:spLocks xmlns:a="http://schemas.openxmlformats.org/drawingml/2006/main" noGrp="1"/>
          </p:cNvSpPr>
          <p:nvPr/>
        </p:nvSpPr>
        <p:spPr>
          <a:xfrm xmlns:a="http://schemas.openxmlformats.org/drawingml/2006/main">
            <a:off x="419100" y="1362075"/>
            <a:ext cx="1133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65D"/>
                </a:solidFill>
                <a:latin typeface="Arial"/>
                <a:ea typeface="Arial"/>
                <a:cs typeface="Arial"/>
              </a:defRPr>
            </a:pPr>
            <a:r>
              <a:t>A bounded MVP with explicit failure handling</a:t>
            </a:r>
          </a:p>
        </p:txBody>
      </p:sp>
      <p:sp>
        <p:nvSpPr>
          <p:cNvPr id="17413" name="Rules feasibility title">
            <a:extLst xmlns:a="http://schemas.openxmlformats.org/drawingml/2006/main">
              <a:ext uri="{FF2B5EF4-FFF2-40B4-BE49-F238E27FC236}">
                <a16:creationId xmlns:a16="http://schemas.microsoft.com/office/drawing/2014/main" id="{35839BDD-F59A-46B5-ABC0-3603B07914BD}"/>
              </a:ext>
            </a:extLst>
          </p:cNvPr>
          <p:cNvSpPr>
            <a:spLocks xmlns:a="http://schemas.openxmlformats.org/drawingml/2006/main" noGrp="1"/>
          </p:cNvSpPr>
          <p:nvPr/>
        </p:nvSpPr>
        <p:spPr>
          <a:xfrm xmlns:a="http://schemas.openxmlformats.org/drawingml/2006/main">
            <a:off x="428625" y="1914525"/>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65D"/>
                </a:solidFill>
                <a:latin typeface="Arial"/>
                <a:ea typeface="Arial"/>
                <a:cs typeface="Arial"/>
              </a:defRPr>
            </a:pPr>
            <a:r>
              <a:t>Configurable rules</a:t>
            </a:r>
          </a:p>
        </p:txBody>
      </p:sp>
      <p:sp>
        <p:nvSpPr>
          <p:cNvPr id="17414" name="Rules feasibility body">
            <a:extLst xmlns:a="http://schemas.openxmlformats.org/drawingml/2006/main">
              <a:ext uri="{FF2B5EF4-FFF2-40B4-BE49-F238E27FC236}">
                <a16:creationId xmlns:a16="http://schemas.microsoft.com/office/drawing/2014/main" id="{C2233E3A-DA7A-4B8A-BE21-25ABCAB3398C}"/>
              </a:ext>
            </a:extLst>
          </p:cNvPr>
          <p:cNvSpPr>
            <a:spLocks xmlns:a="http://schemas.openxmlformats.org/drawingml/2006/main" noGrp="1"/>
          </p:cNvSpPr>
          <p:nvPr/>
        </p:nvSpPr>
        <p:spPr>
          <a:xfrm xmlns:a="http://schemas.openxmlformats.org/drawingml/2006/main">
            <a:off x="428625" y="2276475"/>
            <a:ext cx="3267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93047"/>
                </a:solidFill>
                <a:latin typeface="Arial"/>
                <a:ea typeface="Arial"/>
                <a:cs typeface="Arial"/>
              </a:defRPr>
            </a:pPr>
            <a:r>
              <a:t>Six categories in a config file</a:t>
            </a:r>
          </a:p>
          <a:p xmlns:a="http://schemas.openxmlformats.org/drawingml/2006/main">
            <a:pPr algn="l">
              <a:defRPr sz="1575" b="0">
                <a:solidFill>
                  <a:srgbClr val="193047"/>
                </a:solidFill>
                <a:latin typeface="Arial"/>
                <a:ea typeface="Arial"/>
                <a:cs typeface="Arial"/>
              </a:defRPr>
            </a:pPr>
            <a:r>
              <a:t>No classifier training required</a:t>
            </a:r>
          </a:p>
        </p:txBody>
      </p:sp>
      <p:sp>
        <p:nvSpPr>
          <p:cNvPr id="17415" name="Corpus feasibility title">
            <a:extLst xmlns:a="http://schemas.openxmlformats.org/drawingml/2006/main">
              <a:ext uri="{FF2B5EF4-FFF2-40B4-BE49-F238E27FC236}">
                <a16:creationId xmlns:a16="http://schemas.microsoft.com/office/drawing/2014/main" id="{734A7C74-1031-4BE7-901C-A81638375277}"/>
              </a:ext>
            </a:extLst>
          </p:cNvPr>
          <p:cNvSpPr>
            <a:spLocks xmlns:a="http://schemas.openxmlformats.org/drawingml/2006/main" noGrp="1"/>
          </p:cNvSpPr>
          <p:nvPr/>
        </p:nvSpPr>
        <p:spPr>
          <a:xfrm xmlns:a="http://schemas.openxmlformats.org/drawingml/2006/main">
            <a:off x="4105275" y="1914525"/>
            <a:ext cx="366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65D"/>
                </a:solidFill>
                <a:latin typeface="Arial"/>
                <a:ea typeface="Arial"/>
                <a:cs typeface="Arial"/>
              </a:defRPr>
            </a:pPr>
            <a:r>
              <a:t>Bounded public corpus</a:t>
            </a:r>
          </a:p>
        </p:txBody>
      </p:sp>
      <p:sp>
        <p:nvSpPr>
          <p:cNvPr id="17416" name="Corpus feasibility body">
            <a:extLst xmlns:a="http://schemas.openxmlformats.org/drawingml/2006/main">
              <a:ext uri="{FF2B5EF4-FFF2-40B4-BE49-F238E27FC236}">
                <a16:creationId xmlns:a16="http://schemas.microsoft.com/office/drawing/2014/main" id="{E9FA925D-0A53-4E66-9104-DE550F3B8C5E}"/>
              </a:ext>
            </a:extLst>
          </p:cNvPr>
          <p:cNvSpPr>
            <a:spLocks xmlns:a="http://schemas.openxmlformats.org/drawingml/2006/main" noGrp="1"/>
          </p:cNvSpPr>
          <p:nvPr/>
        </p:nvSpPr>
        <p:spPr>
          <a:xfrm xmlns:a="http://schemas.openxmlformats.org/drawingml/2006/main">
            <a:off x="4105275" y="2276475"/>
            <a:ext cx="3629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93047"/>
                </a:solidFill>
                <a:latin typeface="Arial"/>
                <a:ea typeface="Arial"/>
                <a:cs typeface="Arial"/>
              </a:defRPr>
            </a:pPr>
            <a:r>
              <a:t>2 IP regimes + ABS</a:t>
            </a:r>
          </a:p>
          <a:p xmlns:a="http://schemas.openxmlformats.org/drawingml/2006/main">
            <a:pPr algn="l">
              <a:defRPr sz="1575" b="0">
                <a:solidFill>
                  <a:srgbClr val="193047"/>
                </a:solidFill>
                <a:latin typeface="Arial"/>
                <a:ea typeface="Arial"/>
                <a:cs typeface="Arial"/>
              </a:defRPr>
            </a:pPr>
            <a:r>
              <a:t>2 international regimes</a:t>
            </a:r>
          </a:p>
        </p:txBody>
      </p:sp>
      <p:sp>
        <p:nvSpPr>
          <p:cNvPr id="17417" name="Operation feasibility title">
            <a:extLst xmlns:a="http://schemas.openxmlformats.org/drawingml/2006/main">
              <a:ext uri="{FF2B5EF4-FFF2-40B4-BE49-F238E27FC236}">
                <a16:creationId xmlns:a16="http://schemas.microsoft.com/office/drawing/2014/main" id="{1D39700E-6403-40E7-B9B8-BF6CD0AB0542}"/>
              </a:ext>
            </a:extLst>
          </p:cNvPr>
          <p:cNvSpPr>
            <a:spLocks xmlns:a="http://schemas.openxmlformats.org/drawingml/2006/main" noGrp="1"/>
          </p:cNvSpPr>
          <p:nvPr/>
        </p:nvSpPr>
        <p:spPr>
          <a:xfrm xmlns:a="http://schemas.openxmlformats.org/drawingml/2006/main">
            <a:off x="8020050" y="1914525"/>
            <a:ext cx="3752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65D"/>
                </a:solidFill>
                <a:latin typeface="Arial"/>
                <a:ea typeface="Arial"/>
                <a:cs typeface="Arial"/>
              </a:defRPr>
            </a:pPr>
            <a:r>
              <a:t>Open-weight models</a:t>
            </a:r>
          </a:p>
        </p:txBody>
      </p:sp>
      <p:sp>
        <p:nvSpPr>
          <p:cNvPr id="17418" name="Operation feasibility body">
            <a:extLst xmlns:a="http://schemas.openxmlformats.org/drawingml/2006/main">
              <a:ext uri="{FF2B5EF4-FFF2-40B4-BE49-F238E27FC236}">
                <a16:creationId xmlns:a16="http://schemas.microsoft.com/office/drawing/2014/main" id="{F115728C-E132-4C7C-BC26-D552C0D41CE8}"/>
              </a:ext>
            </a:extLst>
          </p:cNvPr>
          <p:cNvSpPr>
            <a:spLocks xmlns:a="http://schemas.openxmlformats.org/drawingml/2006/main" noGrp="1"/>
          </p:cNvSpPr>
          <p:nvPr/>
        </p:nvSpPr>
        <p:spPr>
          <a:xfrm xmlns:a="http://schemas.openxmlformats.org/drawingml/2006/main">
            <a:off x="8020050" y="2276475"/>
            <a:ext cx="3752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93047"/>
                </a:solidFill>
                <a:latin typeface="Arial"/>
                <a:ea typeface="Arial"/>
                <a:cs typeface="Arial"/>
              </a:defRPr>
            </a:pPr>
            <a:r>
              <a:t>Budget for hosting, source updates</a:t>
            </a:r>
          </a:p>
          <a:p xmlns:a="http://schemas.openxmlformats.org/drawingml/2006/main">
            <a:pPr algn="l">
              <a:defRPr sz="1575" b="0">
                <a:solidFill>
                  <a:srgbClr val="193047"/>
                </a:solidFill>
                <a:latin typeface="Arial"/>
                <a:ea typeface="Arial"/>
                <a:cs typeface="Arial"/>
              </a:defRPr>
            </a:pPr>
            <a:r>
              <a:t>and expert review</a:t>
            </a:r>
          </a:p>
        </p:txBody>
      </p:sp>
      <p:graphicFrame>
        <p:nvGraphicFramePr>
          <p:cNvPr id="17443" name="Risk consequence mitigation"/>
          <p:cNvGraphicFramePr/>
          <p:nvPr/>
        </p:nvGraphicFramePr>
        <p:xfrm>
          <a:off xmlns:a="http://schemas.openxmlformats.org/drawingml/2006/main" x="419100" y="3086100"/>
          <a:ext xmlns:a="http://schemas.openxmlformats.org/drawingml/2006/main" cx="11353800" cy="2390775"/>
        </p:xfrm>
        <a:graphic xmlns:a="http://schemas.openxmlformats.org/drawingml/2006/main">
          <a:graphicData uri="http://schemas.openxmlformats.org/drawingml/2006/table">
            <a:tbl>
              <a:tblPr firstRow="0" firstCol="0" lastRow="0" lastCol="0" bandRow="0" bandCol="0"/>
              <a:tblGrid>
                <a:gridCol w="2905125"/>
                <a:gridCol w="2886075"/>
                <a:gridCol w="5562600"/>
              </a:tblGrid>
              <a:tr h="371475">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Risk</a:t>
                      </a:r>
                    </a:p>
                  </a:txBody>
                  <a:tcPr marL="133350" marR="133350" marT="76200" marB="76200" anchor="ctr">
                    <a:lnL w="0">
                      <a:solidFill>
                        <a:srgbClr val="17365D"/>
                      </a:solidFill>
                    </a:lnL>
                    <a:lnR w="0">
                      <a:solidFill>
                        <a:srgbClr val="17365D"/>
                      </a:solidFill>
                    </a:lnR>
                    <a:lnT w="0">
                      <a:solidFill>
                        <a:srgbClr val="17365D"/>
                      </a:solidFill>
                    </a:lnT>
                    <a:lnB w="0">
                      <a:solidFill>
                        <a:srgbClr val="17365D"/>
                      </a:solidFill>
                    </a:lnB>
                    <a:solidFill>
                      <a:srgbClr val="17365D"/>
                    </a:solidFill>
                  </a:tcPr>
                </a:tc>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Consequence</a:t>
                      </a:r>
                    </a:p>
                  </a:txBody>
                  <a:tcPr marL="133350" marR="133350" marT="76200" marB="76200" anchor="ctr">
                    <a:lnL w="0">
                      <a:solidFill>
                        <a:srgbClr val="17365D"/>
                      </a:solidFill>
                    </a:lnL>
                    <a:lnR w="0">
                      <a:solidFill>
                        <a:srgbClr val="17365D"/>
                      </a:solidFill>
                    </a:lnR>
                    <a:lnT w="0">
                      <a:solidFill>
                        <a:srgbClr val="17365D"/>
                      </a:solidFill>
                    </a:lnT>
                    <a:lnB w="0">
                      <a:solidFill>
                        <a:srgbClr val="17365D"/>
                      </a:solidFill>
                    </a:lnB>
                    <a:solidFill>
                      <a:srgbClr val="17365D"/>
                    </a:solidFill>
                  </a:tcPr>
                </a:tc>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Mitigation</a:t>
                      </a:r>
                    </a:p>
                  </a:txBody>
                  <a:tcPr marL="133350" marR="133350" marT="76200" marB="76200" anchor="ctr">
                    <a:lnL w="0">
                      <a:solidFill>
                        <a:srgbClr val="0B716A"/>
                      </a:solidFill>
                    </a:lnL>
                    <a:lnR w="0">
                      <a:solidFill>
                        <a:srgbClr val="0B716A"/>
                      </a:solidFill>
                    </a:lnR>
                    <a:lnT w="0">
                      <a:solidFill>
                        <a:srgbClr val="0B716A"/>
                      </a:solidFill>
                    </a:lnT>
                    <a:lnB w="0">
                      <a:solidFill>
                        <a:srgbClr val="0B716A"/>
                      </a:solidFill>
                    </a:lnB>
                    <a:solidFill>
                      <a:srgbClr val="0B716A"/>
                    </a:solidFill>
                  </a:tcPr>
                </a:tc>
              </a:tr>
              <a:tr h="504825">
                <a:tc>
                  <a:txBody>
                    <a:bodyPr wrap="square" lIns="133350" tIns="76200" rIns="133350" bIns="76200">
                      <a:noAutofit/>
                    </a:bodyPr>
                    <a:lstStyle/>
                    <a:p>
                      <a:pPr algn="l">
                        <a:lnSpc>
                          <a:spcPct val="102000"/>
                        </a:lnSpc>
                        <a:buNone/>
                      </a:pPr>
                      <a:r>
                        <a:rPr sz="1538" b="1">
                          <a:solidFill>
                            <a:srgbClr val="193047"/>
                          </a:solidFill>
                          <a:latin typeface="Arial"/>
                          <a:ea typeface="Arial"/>
                          <a:cs typeface="Arial"/>
                        </a:rPr>
                        <a:t>Unclear class or market</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38" b="0">
                          <a:solidFill>
                            <a:srgbClr val="193047"/>
                          </a:solidFill>
                          <a:latin typeface="Arial"/>
                          <a:ea typeface="Arial"/>
                          <a:cs typeface="Arial"/>
                        </a:rPr>
                        <a:t>Wrong regulatory route</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38" b="0">
                          <a:solidFill>
                            <a:srgbClr val="193047"/>
                          </a:solidFill>
                          <a:latin typeface="Arial"/>
                          <a:ea typeface="Arial"/>
                          <a:cs typeface="Arial"/>
                        </a:rPr>
                        <a:t>Ask for missing facts. Unresolved cases abstain.</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r>
              <a:tr h="504825">
                <a:tc>
                  <a:txBody>
                    <a:bodyPr wrap="square" lIns="133350" tIns="76200" rIns="133350" bIns="76200">
                      <a:noAutofit/>
                    </a:bodyPr>
                    <a:lstStyle/>
                    <a:p>
                      <a:pPr algn="l">
                        <a:lnSpc>
                          <a:spcPct val="102000"/>
                        </a:lnSpc>
                        <a:buNone/>
                      </a:pPr>
                      <a:r>
                        <a:rPr sz="1538" b="1">
                          <a:solidFill>
                            <a:srgbClr val="193047"/>
                          </a:solidFill>
                          <a:latin typeface="Arial"/>
                          <a:ea typeface="Arial"/>
                          <a:cs typeface="Arial"/>
                        </a:rPr>
                        <a:t>Stale law or weak support</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38" b="0">
                          <a:solidFill>
                            <a:srgbClr val="193047"/>
                          </a:solidFill>
                          <a:latin typeface="Arial"/>
                          <a:ea typeface="Arial"/>
                          <a:cs typeface="Arial"/>
                        </a:rPr>
                        <a:t>Misleading legal guidance</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38" b="0">
                          <a:solidFill>
                            <a:srgbClr val="193047"/>
                          </a:solidFill>
                          <a:latin typeface="Arial"/>
                          <a:ea typeface="Arial"/>
                          <a:cs typeface="Arial"/>
                        </a:rPr>
                        <a:t>Versioned corpus + support checks. Stop on failure.</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r>
              <a:tr h="504825">
                <a:tc>
                  <a:txBody>
                    <a:bodyPr wrap="square" lIns="133350" tIns="76200" rIns="133350" bIns="76200">
                      <a:noAutofit/>
                    </a:bodyPr>
                    <a:lstStyle/>
                    <a:p>
                      <a:pPr algn="l">
                        <a:lnSpc>
                          <a:spcPct val="102000"/>
                        </a:lnSpc>
                        <a:buNone/>
                      </a:pPr>
                      <a:r>
                        <a:rPr sz="1538" b="1">
                          <a:solidFill>
                            <a:srgbClr val="193047"/>
                          </a:solidFill>
                          <a:latin typeface="Arial"/>
                          <a:ea typeface="Arial"/>
                          <a:cs typeface="Arial"/>
                        </a:rPr>
                        <a:t>Translation drift</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38" b="0">
                          <a:solidFill>
                            <a:srgbClr val="193047"/>
                          </a:solidFill>
                          <a:latin typeface="Arial"/>
                          <a:ea typeface="Arial"/>
                          <a:cs typeface="Arial"/>
                        </a:rPr>
                        <a:t>Wrong duty or condition</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38" b="0">
                          <a:solidFill>
                            <a:srgbClr val="193047"/>
                          </a:solidFill>
                          <a:latin typeface="Arial"/>
                          <a:ea typeface="Arial"/>
                          <a:cs typeface="Arial"/>
                        </a:rPr>
                        <a:t>Keep statutes verbatim. Validate translated guidance.</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r>
              <a:tr h="504825">
                <a:tc>
                  <a:txBody>
                    <a:bodyPr wrap="square" lIns="133350" tIns="76200" rIns="133350" bIns="76200">
                      <a:noAutofit/>
                    </a:bodyPr>
                    <a:lstStyle/>
                    <a:p>
                      <a:pPr algn="l">
                        <a:lnSpc>
                          <a:spcPct val="102000"/>
                        </a:lnSpc>
                        <a:buNone/>
                      </a:pPr>
                      <a:r>
                        <a:rPr sz="1538" b="1">
                          <a:solidFill>
                            <a:srgbClr val="193047"/>
                          </a:solidFill>
                          <a:latin typeface="Arial"/>
                          <a:ea typeface="Arial"/>
                          <a:cs typeface="Arial"/>
                        </a:rPr>
                        <a:t>Restricted TKDL access</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38" b="0">
                          <a:solidFill>
                            <a:srgbClr val="193047"/>
                          </a:solidFill>
                          <a:latin typeface="Arial"/>
                          <a:ea typeface="Arial"/>
                          <a:cs typeface="Arial"/>
                        </a:rPr>
                        <a:t>Unavailable evidence</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38" b="0">
                          <a:solidFill>
                            <a:srgbClr val="193047"/>
                          </a:solidFill>
                          <a:latin typeface="Arial"/>
                          <a:ea typeface="Arial"/>
                          <a:cs typeface="Arial"/>
                        </a:rPr>
                        <a:t>Public texts + First-Schedule list. TKDL referral only.</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r>
            </a:tbl>
          </a:graphicData>
        </a:graphic>
      </p:graphicFrame>
      <p:sp>
        <p:nvSpPr>
          <p:cNvPr id="17420" name="No support condition">
            <a:extLst xmlns:a="http://schemas.openxmlformats.org/drawingml/2006/main">
              <a:ext uri="{FF2B5EF4-FFF2-40B4-BE49-F238E27FC236}">
                <a16:creationId xmlns:a16="http://schemas.microsoft.com/office/drawing/2014/main" id="{381A3CDA-0141-4692-9D3F-3FB4015D094F}"/>
              </a:ext>
            </a:extLst>
          </p:cNvPr>
          <p:cNvSpPr>
            <a:spLocks xmlns:a="http://schemas.openxmlformats.org/drawingml/2006/main" noGrp="1"/>
          </p:cNvSpPr>
          <p:nvPr/>
        </p:nvSpPr>
        <p:spPr>
          <a:xfrm xmlns:a="http://schemas.openxmlformats.org/drawingml/2006/main">
            <a:off x="428625" y="5800725"/>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A13434"/>
                </a:solidFill>
                <a:latin typeface="Arial"/>
                <a:ea typeface="Arial"/>
                <a:cs typeface="Arial"/>
              </a:defRPr>
            </a:pPr>
            <a:r>
              <a:t>No verified support</a:t>
            </a:r>
          </a:p>
        </p:txBody>
      </p:sp>
      <p:sp>
        <p:nvSpPr>
          <p:cNvPr id="17421" name="Stop decision">
            <a:extLst xmlns:a="http://schemas.openxmlformats.org/drawingml/2006/main">
              <a:ext uri="{FF2B5EF4-FFF2-40B4-BE49-F238E27FC236}">
                <a16:creationId xmlns:a16="http://schemas.microsoft.com/office/drawing/2014/main" id="{261E44D0-A1B8-4AF5-831B-A5A98386D203}"/>
              </a:ext>
            </a:extLst>
          </p:cNvPr>
          <p:cNvSpPr>
            <a:spLocks xmlns:a="http://schemas.openxmlformats.org/drawingml/2006/main" noGrp="1"/>
          </p:cNvSpPr>
          <p:nvPr/>
        </p:nvSpPr>
        <p:spPr>
          <a:xfrm xmlns:a="http://schemas.openxmlformats.org/drawingml/2006/main">
            <a:off x="3486150" y="5676900"/>
            <a:ext cx="1847850" cy="533400"/>
          </a:xfrm>
          <a:prstGeom xmlns:a="http://schemas.openxmlformats.org/drawingml/2006/main" prst="roundRect">
            <a:avLst>
              <a:gd name="adj" fmla="val 12500"/>
            </a:avLst>
          </a:prstGeom>
          <a:solidFill xmlns:a="http://schemas.openxmlformats.org/drawingml/2006/main">
            <a:srgbClr val="A13434"/>
          </a:solidFill>
          <a:ln xmlns:a="http://schemas.openxmlformats.org/drawingml/2006/main" w="17145">
            <a:solidFill>
              <a:srgbClr val="A13434"/>
            </a:solid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spcAft>
                <a:spcPts val="0"/>
              </a:spcAft>
              <a:defRPr sz="1725" b="0">
                <a:solidFill>
                  <a:srgbClr val="FFFFFF"/>
                </a:solidFill>
                <a:latin typeface="Arial"/>
                <a:ea typeface="Arial"/>
                <a:cs typeface="Arial"/>
              </a:defRPr>
            </a:pPr>
            <a:r>
              <a:rPr sz="1725" b="1">
                <a:solidFill>
                  <a:srgbClr val="FFFFFF"/>
                </a:solidFill>
                <a:latin typeface="Arial"/>
                <a:ea typeface="Arial"/>
                <a:cs typeface="Arial"/>
              </a:rPr>
              <a:t>ABSTAIN</a:t>
            </a:r>
          </a:p>
        </p:txBody>
      </p:sp>
      <p:sp>
        <p:nvSpPr>
          <p:cNvPr id="17422" name="Expert review route">
            <a:extLst xmlns:a="http://schemas.openxmlformats.org/drawingml/2006/main">
              <a:ext uri="{FF2B5EF4-FFF2-40B4-BE49-F238E27FC236}">
                <a16:creationId xmlns:a16="http://schemas.microsoft.com/office/drawing/2014/main" id="{DC523D7F-9925-4D5D-AD49-9A64F8952835}"/>
              </a:ext>
            </a:extLst>
          </p:cNvPr>
          <p:cNvSpPr>
            <a:spLocks xmlns:a="http://schemas.openxmlformats.org/drawingml/2006/main" noGrp="1"/>
          </p:cNvSpPr>
          <p:nvPr/>
        </p:nvSpPr>
        <p:spPr>
          <a:xfrm xmlns:a="http://schemas.openxmlformats.org/drawingml/2006/main">
            <a:off x="6115050" y="5676900"/>
            <a:ext cx="2200275" cy="533400"/>
          </a:xfrm>
          <a:prstGeom xmlns:a="http://schemas.openxmlformats.org/drawingml/2006/main" prst="roundRect">
            <a:avLst>
              <a:gd name="adj" fmla="val 12500"/>
            </a:avLst>
          </a:prstGeom>
          <a:solidFill xmlns:a="http://schemas.openxmlformats.org/drawingml/2006/main">
            <a:srgbClr val="F4F7F9"/>
          </a:solidFill>
          <a:ln xmlns:a="http://schemas.openxmlformats.org/drawingml/2006/main" w="17145">
            <a:solidFill>
              <a:srgbClr val="556575"/>
            </a:solid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spcAft>
                <a:spcPts val="0"/>
              </a:spcAft>
              <a:defRPr sz="1725" b="0">
                <a:solidFill>
                  <a:srgbClr val="17365D"/>
                </a:solidFill>
                <a:latin typeface="Arial"/>
                <a:ea typeface="Arial"/>
                <a:cs typeface="Arial"/>
              </a:defRPr>
            </a:pPr>
            <a:r>
              <a:rPr sz="1725" b="1">
                <a:solidFill>
                  <a:srgbClr val="17365D"/>
                </a:solidFill>
                <a:latin typeface="Arial"/>
                <a:ea typeface="Arial"/>
                <a:cs typeface="Arial"/>
              </a:rPr>
              <a:t>Human review</a:t>
            </a:r>
          </a:p>
        </p:txBody>
      </p:sp>
      <p:sp>
        <p:nvSpPr>
          <p:cNvPr id="17423" name="Expert destination">
            <a:extLst xmlns:a="http://schemas.openxmlformats.org/drawingml/2006/main">
              <a:ext uri="{FF2B5EF4-FFF2-40B4-BE49-F238E27FC236}">
                <a16:creationId xmlns:a16="http://schemas.microsoft.com/office/drawing/2014/main" id="{01B1D8F3-0963-4751-A9BD-7185262AC56F}"/>
              </a:ext>
            </a:extLst>
          </p:cNvPr>
          <p:cNvSpPr>
            <a:spLocks xmlns:a="http://schemas.openxmlformats.org/drawingml/2006/main" noGrp="1"/>
          </p:cNvSpPr>
          <p:nvPr/>
        </p:nvSpPr>
        <p:spPr>
          <a:xfrm xmlns:a="http://schemas.openxmlformats.org/drawingml/2006/main">
            <a:off x="9144000" y="5657850"/>
            <a:ext cx="2647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93047"/>
                </a:solidFill>
                <a:latin typeface="Arial"/>
                <a:ea typeface="Arial"/>
                <a:cs typeface="Arial"/>
              </a:defRPr>
            </a:pPr>
            <a:r>
              <a:t>Authority or</a:t>
            </a:r>
          </a:p>
          <a:p xmlns:a="http://schemas.openxmlformats.org/drawingml/2006/main">
            <a:pPr algn="l">
              <a:defRPr sz="1575" b="0">
                <a:solidFill>
                  <a:srgbClr val="193047"/>
                </a:solidFill>
                <a:latin typeface="Arial"/>
                <a:ea typeface="Arial"/>
                <a:cs typeface="Arial"/>
              </a:defRPr>
            </a:pPr>
            <a:r>
              <a:t>qualified expert</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7365D"/>
          </a:solidFill>
          <a:ln xmlns:a="http://schemas.openxmlformats.org/drawingml/2006/main" w="0">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384DFCCE-E3BE-4B1B-AF61-9058AF110162}"/>
              </a:ext>
            </a:extLst>
          </p:cNvPr>
          <p:cNvSpPr>
            <a:spLocks xmlns:a="http://schemas.openxmlformats.org/drawingml/2006/main" noGrp="1"/>
          </p:cNvSpPr>
          <p:nvPr>
            <p:ph type="title" idx="0"/>
          </p:nvPr>
        </p:nvSpPr>
        <p:spPr>
          <a:xfrm xmlns:a="http://schemas.openxmlformats.org/drawingml/2006/main">
            <a:off x="1828800" y="323850"/>
            <a:ext cx="7867650" cy="609600"/>
          </a:xfrm>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3000" b="1">
                <a:solidFill>
                  <a:srgbClr val="17365D"/>
                </a:solidFill>
                <a:latin typeface="Arial"/>
                <a:ea typeface="Arial"/>
                <a:cs typeface="Arial"/>
              </a:defRPr>
            </a:pPr>
            <a:r>
              <a:rPr sz="3000" b="1">
                <a:solidFill>
                  <a:srgbClr val="17365D"/>
                </a:solidFill>
                <a:latin typeface="Arial"/>
                <a:ea typeface="Arial"/>
                <a:cs typeface="Arial"/>
              </a:rPr>
              <a:t>IMPACT AND BENEFITS</a:t>
            </a:r>
          </a:p>
        </p:txBody>
      </p:sp>
      <p:sp>
        <p:nvSpPr>
          <p:cNvPr id="6" name="Slide Number Placeholder 5">
            <a:extLst xmlns:a="http://schemas.openxmlformats.org/drawingml/2006/main">
              <a:ext uri="{FF2B5EF4-FFF2-40B4-BE49-F238E27FC236}">
                <a16:creationId xmlns:a16="http://schemas.microsoft.com/office/drawing/2014/main" id="{A6CD7CB7-A0C5-4754-BA5F-5279C4B758B8}"/>
              </a:ext>
            </a:extLst>
          </p:cNvPr>
          <p:cNvSpPr>
            <a:spLocks xmlns:a="http://schemas.openxmlformats.org/drawingml/2006/main" noGrp="1"/>
          </p:cNvSpPr>
          <p:nvPr>
            <p:ph type="sldNum" idx="12"/>
          </p:nvPr>
        </p:nvSpPr>
        <p:spPr>
          <a:xfrm xmlns:a="http://schemas.openxmlformats.org/drawingml/2006/main">
            <a:off x="10953750" y="6391275"/>
            <a:ext cx="619125" cy="333375"/>
          </a:xfrm>
        </p:spPr>
        <p:txBody>
          <a:bodyPr xmlns:a="http://schemas.openxmlformats.org/drawingml/2006/main" wrap="square" lIns="0" tIns="0" rIns="0" bIns="0" anchor="ctr">
            <a:noAutofit/>
          </a:bodyPr>
          <a:lstStyle xmlns:a="http://schemas.openxmlformats.org/drawingml/2006/main"/>
          <a:p xmlns:a="http://schemas.openxmlformats.org/drawingml/2006/main">
            <a:pPr marL="0" marR="0" lvl="0" indent="0" algn="r" defTabSz="457200">
              <a:lnSpc>
                <a:spcPct val="105000"/>
              </a:lnSpc>
              <a:spcBef>
                <a:spcPct val="0"/>
              </a:spcBef>
              <a:spcAft>
                <a:spcPct val="0"/>
              </a:spcAft>
              <a:buClrTx/>
              <a:buSzTx/>
              <a:buFontTx/>
              <a:buNone/>
              <a:defRPr sz="1200" b="1">
                <a:solidFill>
                  <a:srgbClr val="FFFFFF"/>
                </a:solidFill>
                <a:latin typeface="Arial"/>
                <a:ea typeface="Arial"/>
                <a:cs typeface="Arial"/>
              </a:defRPr>
            </a:pPr>
            <a:fld id="{EE5B3003-2C54-13C6-9832-7637201064DE}" type="slidenum">
              <a:rPr sz="1200"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FCBEC62A-4D35-4A54-AFDA-331730B0E133}"/>
              </a:ext>
            </a:extLst>
          </p:cNvPr>
          <p:cNvSpPr>
            <a:spLocks xmlns:a="http://schemas.openxmlformats.org/drawingml/2006/main" noGrp="1"/>
          </p:cNvSpPr>
          <p:nvPr>
            <p:ph type="ftr" idx="11"/>
          </p:nvPr>
        </p:nvSpPr>
        <p:spPr>
          <a:xfrm xmlns:a="http://schemas.openxmlformats.org/drawingml/2006/main">
            <a:off x="4257675" y="6391275"/>
            <a:ext cx="3914775" cy="333375"/>
          </a:xfrm>
        </p:spPr>
        <p:txBody>
          <a:bodyPr xmlns:a="http://schemas.openxmlformats.org/drawingml/2006/main" wrap="square" lIns="0" tIns="0" rIns="0" bIns="0" anchor="ctr">
            <a:noAutofit/>
          </a:bodyPr>
          <a:lstStyle xmlns:a="http://schemas.openxmlformats.org/drawingml/2006/main"/>
          <a:p xmlns:a="http://schemas.openxmlformats.org/drawingml/2006/main">
            <a:pPr marL="0" marR="0" lvl="0" indent="0" algn="ctr" defTabSz="457200">
              <a:lnSpc>
                <a:spcPct val="105000"/>
              </a:lnSpc>
              <a:spcBef>
                <a:spcPts val="0"/>
              </a:spcBef>
              <a:spcAft>
                <a:spcPts val="0"/>
              </a:spcAft>
              <a:buClrTx/>
              <a:buSzTx/>
              <a:buFontTx/>
              <a:buNone/>
              <a:defRPr sz="1163" b="0">
                <a:solidFill>
                  <a:srgbClr val="FFFFFF"/>
                </a:solidFill>
                <a:latin typeface="Arial"/>
                <a:ea typeface="Arial"/>
                <a:cs typeface="Arial"/>
              </a:defRPr>
            </a:pPr>
            <a:r>
              <a:rPr sz="1163" b="0" i="0" u="none" cap="none" spc="0">
                <a:ln>
                  <a:noFill/>
                </a:ln>
                <a:solidFill>
                  <a:srgbClr val="FFFFFF"/>
                </a:solidFill>
                <a:latin typeface="Arial"/>
                <a:ea typeface="Arial"/>
                <a:cs typeface="Arial"/>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FFFFFF"/>
          </a:solidFill>
          <a:ln xmlns:a="http://schemas.openxmlformats.org/drawingml/2006/main" w="15240">
            <a:solidFill>
              <a:srgbClr val="17365D"/>
            </a:solidFill>
            <a:prstDash val="solid"/>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5000"/>
              </a:lnSpc>
              <a:buNone/>
              <a:defRPr sz="1725" b="1">
                <a:solidFill>
                  <a:srgbClr val="17365D"/>
                </a:solidFill>
                <a:latin typeface="Arial"/>
                <a:ea typeface="Arial"/>
                <a:cs typeface="Arial"/>
              </a:defRPr>
            </a:pPr>
            <a:r>
              <a:rPr sz="1725" b="1">
                <a:solidFill>
                  <a:srgbClr val="17365D"/>
                </a:solidFill>
                <a:latin typeface="Arial"/>
                <a:ea typeface="Arial"/>
                <a:cs typeface="Arial"/>
              </a:rPr>
              <a:t>Victor</a:t>
            </a:r>
            <a:endParaRPr/>
          </a:p>
          <a:p xmlns:a="http://schemas.openxmlformats.org/drawingml/2006/main">
            <a:pPr algn="ctr">
              <a:lnSpc>
                <a:spcPct val="105000"/>
              </a:lnSpc>
              <a:buNone/>
              <a:defRPr sz="1725" b="1">
                <a:solidFill>
                  <a:srgbClr val="17365D"/>
                </a:solidFill>
                <a:latin typeface="Arial"/>
                <a:ea typeface="Arial"/>
                <a:cs typeface="Arial"/>
              </a:defRPr>
            </a:pPr>
            <a:r>
              <a:rPr sz="1725" b="1">
                <a:solidFill>
                  <a:srgbClr val="17365D"/>
                </a:solidFill>
                <a:latin typeface="Arial"/>
                <a:ea typeface="Arial"/>
                <a:cs typeface="Arial"/>
              </a:rPr>
              <a:t>Bytes</a:t>
            </a:r>
            <a:endParaRPr/>
          </a:p>
        </p:txBody>
      </p:sp>
      <p:pic>
        <p:nvPicPr>
          <p:cNvPr id="17427" name="Picture 10"/>
          <p:cNvPicPr>
            <a:picLocks xmlns:a="http://schemas.openxmlformats.org/drawingml/2006/main" noChangeAspect="1"/>
          </p:cNvPicPr>
          <p:nvPr/>
        </p:nvPicPr>
        <p:blipFill>
          <a:blip xmlns:r="http://schemas.openxmlformats.org/officeDocument/2006/relationships" xmlns:a="http://schemas.openxmlformats.org/drawingml/2006/main" r:embed="R7b320d47318e4c35"/>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Impact distinction">
            <a:extLst xmlns:a="http://schemas.openxmlformats.org/drawingml/2006/main">
              <a:ext uri="{FF2B5EF4-FFF2-40B4-BE49-F238E27FC236}">
                <a16:creationId xmlns:a16="http://schemas.microsoft.com/office/drawing/2014/main" id="{F5D43C14-A47F-4509-8CA8-B74472D6075B}"/>
              </a:ext>
            </a:extLst>
          </p:cNvPr>
          <p:cNvSpPr>
            <a:spLocks xmlns:a="http://schemas.openxmlformats.org/drawingml/2006/main" noGrp="1"/>
          </p:cNvSpPr>
          <p:nvPr/>
        </p:nvSpPr>
        <p:spPr>
          <a:xfrm xmlns:a="http://schemas.openxmlformats.org/drawingml/2006/main">
            <a:off x="419100" y="1362075"/>
            <a:ext cx="1133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65D"/>
                </a:solidFill>
                <a:latin typeface="Arial"/>
                <a:ea typeface="Arial"/>
                <a:cs typeface="Arial"/>
              </a:defRPr>
            </a:pPr>
            <a:r>
              <a:t>Expected benefits, with a plan to measure them</a:t>
            </a:r>
          </a:p>
        </p:txBody>
      </p:sp>
      <p:sp>
        <p:nvSpPr>
          <p:cNvPr id="17413" name="Impact status">
            <a:extLst xmlns:a="http://schemas.openxmlformats.org/drawingml/2006/main">
              <a:ext uri="{FF2B5EF4-FFF2-40B4-BE49-F238E27FC236}">
                <a16:creationId xmlns:a16="http://schemas.microsoft.com/office/drawing/2014/main" id="{DAA93E82-31C2-40C3-9FDB-FAE0CFCEB890}"/>
              </a:ext>
            </a:extLst>
          </p:cNvPr>
          <p:cNvSpPr>
            <a:spLocks xmlns:a="http://schemas.openxmlformats.org/drawingml/2006/main" noGrp="1"/>
          </p:cNvSpPr>
          <p:nvPr/>
        </p:nvSpPr>
        <p:spPr>
          <a:xfrm xmlns:a="http://schemas.openxmlformats.org/drawingml/2006/main">
            <a:off x="419100" y="1790700"/>
            <a:ext cx="1133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56575"/>
                </a:solidFill>
                <a:latin typeface="Arial"/>
                <a:ea typeface="Arial"/>
                <a:cs typeface="Arial"/>
              </a:defRPr>
            </a:pPr>
            <a:r>
              <a:t>The outcomes below are pilot hypotheses. Measurements are still pending.</a:t>
            </a:r>
          </a:p>
        </p:txBody>
      </p:sp>
      <p:graphicFrame>
        <p:nvGraphicFramePr>
          <p:cNvPr id="17430" name="Stakeholder outcomes"/>
          <p:cNvGraphicFramePr/>
          <p:nvPr/>
        </p:nvGraphicFramePr>
        <p:xfrm>
          <a:off xmlns:a="http://schemas.openxmlformats.org/drawingml/2006/main" x="419100" y="2295525"/>
          <a:ext xmlns:a="http://schemas.openxmlformats.org/drawingml/2006/main" cx="11353800" cy="2581275"/>
        </p:xfrm>
        <a:graphic xmlns:a="http://schemas.openxmlformats.org/drawingml/2006/main">
          <a:graphicData uri="http://schemas.openxmlformats.org/drawingml/2006/table">
            <a:tbl>
              <a:tblPr firstRow="0" firstCol="0" lastRow="0" lastCol="0" bandRow="0" bandCol="0"/>
              <a:tblGrid>
                <a:gridCol w="2143125"/>
                <a:gridCol w="2924175"/>
                <a:gridCol w="3114675"/>
                <a:gridCol w="3171825"/>
              </a:tblGrid>
              <a:tr h="381000">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Stakeholder</a:t>
                      </a:r>
                    </a:p>
                  </a:txBody>
                  <a:tcPr marL="133350" marR="133350" marT="76200" marB="76200" anchor="ctr">
                    <a:lnL w="0">
                      <a:solidFill>
                        <a:srgbClr val="17365D"/>
                      </a:solidFill>
                    </a:lnL>
                    <a:lnR w="0">
                      <a:solidFill>
                        <a:srgbClr val="17365D"/>
                      </a:solidFill>
                    </a:lnR>
                    <a:lnT w="0">
                      <a:solidFill>
                        <a:srgbClr val="17365D"/>
                      </a:solidFill>
                    </a:lnT>
                    <a:lnB w="0">
                      <a:solidFill>
                        <a:srgbClr val="17365D"/>
                      </a:solidFill>
                    </a:lnB>
                    <a:solidFill>
                      <a:srgbClr val="17365D"/>
                    </a:solidFill>
                  </a:tcPr>
                </a:tc>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Current friction</a:t>
                      </a:r>
                    </a:p>
                  </a:txBody>
                  <a:tcPr marL="133350" marR="133350" marT="76200" marB="76200" anchor="ctr">
                    <a:lnL w="0">
                      <a:solidFill>
                        <a:srgbClr val="17365D"/>
                      </a:solidFill>
                    </a:lnL>
                    <a:lnR w="0">
                      <a:solidFill>
                        <a:srgbClr val="17365D"/>
                      </a:solidFill>
                    </a:lnR>
                    <a:lnT w="0">
                      <a:solidFill>
                        <a:srgbClr val="17365D"/>
                      </a:solidFill>
                    </a:lnT>
                    <a:lnB w="0">
                      <a:solidFill>
                        <a:srgbClr val="17365D"/>
                      </a:solidFill>
                    </a:lnB>
                    <a:solidFill>
                      <a:srgbClr val="17365D"/>
                    </a:solidFill>
                  </a:tcPr>
                </a:tc>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System intervention</a:t>
                      </a:r>
                    </a:p>
                  </a:txBody>
                  <a:tcPr marL="133350" marR="133350" marT="76200" marB="76200" anchor="ctr">
                    <a:lnL w="0">
                      <a:solidFill>
                        <a:srgbClr val="17365D"/>
                      </a:solidFill>
                    </a:lnL>
                    <a:lnR w="0">
                      <a:solidFill>
                        <a:srgbClr val="17365D"/>
                      </a:solidFill>
                    </a:lnR>
                    <a:lnT w="0">
                      <a:solidFill>
                        <a:srgbClr val="17365D"/>
                      </a:solidFill>
                    </a:lnT>
                    <a:lnB w="0">
                      <a:solidFill>
                        <a:srgbClr val="17365D"/>
                      </a:solidFill>
                    </a:lnB>
                    <a:solidFill>
                      <a:srgbClr val="17365D"/>
                    </a:solidFill>
                  </a:tcPr>
                </a:tc>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Expected outcome</a:t>
                      </a:r>
                    </a:p>
                  </a:txBody>
                  <a:tcPr marL="133350" marR="133350" marT="76200" marB="76200" anchor="ctr">
                    <a:lnL w="0">
                      <a:solidFill>
                        <a:srgbClr val="0B716A"/>
                      </a:solidFill>
                    </a:lnL>
                    <a:lnR w="0">
                      <a:solidFill>
                        <a:srgbClr val="0B716A"/>
                      </a:solidFill>
                    </a:lnR>
                    <a:lnT w="0">
                      <a:solidFill>
                        <a:srgbClr val="0B716A"/>
                      </a:solidFill>
                    </a:lnT>
                    <a:lnB w="0">
                      <a:solidFill>
                        <a:srgbClr val="0B716A"/>
                      </a:solidFill>
                    </a:lnB>
                    <a:solidFill>
                      <a:srgbClr val="0B716A"/>
                    </a:solidFill>
                  </a:tcPr>
                </a:tc>
              </a:tr>
              <a:tr h="733425">
                <a:tc>
                  <a:txBody>
                    <a:bodyPr wrap="square" lIns="133350" tIns="76200" rIns="133350" bIns="76200">
                      <a:noAutofit/>
                    </a:bodyPr>
                    <a:lstStyle/>
                    <a:p>
                      <a:pPr algn="l">
                        <a:lnSpc>
                          <a:spcPct val="102000"/>
                        </a:lnSpc>
                        <a:buNone/>
                      </a:pPr>
                      <a:r>
                        <a:rPr sz="1575" b="1">
                          <a:solidFill>
                            <a:srgbClr val="193047"/>
                          </a:solidFill>
                          <a:latin typeface="Arial"/>
                          <a:ea typeface="Arial"/>
                          <a:cs typeface="Arial"/>
                        </a:rPr>
                        <a:t>Startups &amp; MSMEs</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75" b="0">
                          <a:solidFill>
                            <a:srgbClr val="193047"/>
                          </a:solidFill>
                          <a:latin typeface="Arial"/>
                          <a:ea typeface="Arial"/>
                          <a:cs typeface="Arial"/>
                        </a:rPr>
                        <a:t>Unclear product category</a:t>
                      </a:r>
                    </a:p>
                    <a:p>
                      <a:pPr algn="l">
                        <a:lnSpc>
                          <a:spcPct val="102000"/>
                        </a:lnSpc>
                        <a:buNone/>
                      </a:pPr>
                      <a:r>
                        <a:rPr sz="1575" b="0">
                          <a:solidFill>
                            <a:srgbClr val="193047"/>
                          </a:solidFill>
                          <a:latin typeface="Arial"/>
                          <a:ea typeface="Arial"/>
                          <a:cs typeface="Arial"/>
                        </a:rPr>
                        <a:t>and filing route</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75" b="0">
                          <a:solidFill>
                            <a:srgbClr val="193047"/>
                          </a:solidFill>
                          <a:latin typeface="Arial"/>
                          <a:ea typeface="Arial"/>
                          <a:cs typeface="Arial"/>
                        </a:rPr>
                        <a:t>Classification + cited</a:t>
                      </a:r>
                    </a:p>
                    <a:p>
                      <a:pPr algn="l">
                        <a:lnSpc>
                          <a:spcPct val="102000"/>
                        </a:lnSpc>
                        <a:buNone/>
                      </a:pPr>
                      <a:r>
                        <a:rPr sz="1575" b="0">
                          <a:solidFill>
                            <a:srgbClr val="193047"/>
                          </a:solidFill>
                          <a:latin typeface="Arial"/>
                          <a:ea typeface="Arial"/>
                          <a:cs typeface="Arial"/>
                        </a:rPr>
                        <a:t>registry/form guidance</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75" b="0">
                          <a:solidFill>
                            <a:srgbClr val="0B716A"/>
                          </a:solidFill>
                          <a:latin typeface="Arial"/>
                          <a:ea typeface="Arial"/>
                          <a:cs typeface="Arial"/>
                        </a:rPr>
                        <a:t>Faster first-level clarity</a:t>
                      </a:r>
                    </a:p>
                    <a:p>
                      <a:pPr algn="l">
                        <a:lnSpc>
                          <a:spcPct val="102000"/>
                        </a:lnSpc>
                        <a:buNone/>
                      </a:pPr>
                      <a:r>
                        <a:rPr sz="1575" b="0">
                          <a:solidFill>
                            <a:srgbClr val="0B716A"/>
                          </a:solidFill>
                          <a:latin typeface="Arial"/>
                          <a:ea typeface="Arial"/>
                          <a:cs typeface="Arial"/>
                        </a:rPr>
                        <a:t>and fewer avoidable errors</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r>
              <a:tr h="733425">
                <a:tc>
                  <a:txBody>
                    <a:bodyPr wrap="square" lIns="133350" tIns="76200" rIns="133350" bIns="76200">
                      <a:noAutofit/>
                    </a:bodyPr>
                    <a:lstStyle/>
                    <a:p>
                      <a:pPr algn="l">
                        <a:lnSpc>
                          <a:spcPct val="102000"/>
                        </a:lnSpc>
                        <a:buNone/>
                      </a:pPr>
                      <a:r>
                        <a:rPr sz="1575" b="1">
                          <a:solidFill>
                            <a:srgbClr val="193047"/>
                          </a:solidFill>
                          <a:latin typeface="Arial"/>
                          <a:ea typeface="Arial"/>
                          <a:cs typeface="Arial"/>
                        </a:rPr>
                        <a:t>Practitioners</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75" b="0">
                          <a:solidFill>
                            <a:srgbClr val="193047"/>
                          </a:solidFill>
                          <a:latin typeface="Arial"/>
                          <a:ea typeface="Arial"/>
                          <a:cs typeface="Arial"/>
                        </a:rPr>
                        <a:t>Legal language and</a:t>
                      </a:r>
                    </a:p>
                    <a:p>
                      <a:pPr algn="l">
                        <a:lnSpc>
                          <a:spcPct val="102000"/>
                        </a:lnSpc>
                        <a:buNone/>
                      </a:pPr>
                      <a:r>
                        <a:rPr sz="1575" b="0">
                          <a:solidFill>
                            <a:srgbClr val="193047"/>
                          </a:solidFill>
                          <a:latin typeface="Arial"/>
                          <a:ea typeface="Arial"/>
                          <a:cs typeface="Arial"/>
                        </a:rPr>
                        <a:t>scattered sources</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75" b="0">
                          <a:solidFill>
                            <a:srgbClr val="193047"/>
                          </a:solidFill>
                          <a:latin typeface="Arial"/>
                          <a:ea typeface="Arial"/>
                          <a:cs typeface="Arial"/>
                        </a:rPr>
                        <a:t>Multilingual, grounded</a:t>
                      </a:r>
                    </a:p>
                    <a:p>
                      <a:pPr algn="l">
                        <a:lnSpc>
                          <a:spcPct val="102000"/>
                        </a:lnSpc>
                        <a:buNone/>
                      </a:pPr>
                      <a:r>
                        <a:rPr sz="1575" b="0">
                          <a:solidFill>
                            <a:srgbClr val="193047"/>
                          </a:solidFill>
                          <a:latin typeface="Arial"/>
                          <a:ea typeface="Arial"/>
                          <a:cs typeface="Arial"/>
                        </a:rPr>
                        <a:t>answers with source links</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75" b="0">
                          <a:solidFill>
                            <a:srgbClr val="0B716A"/>
                          </a:solidFill>
                          <a:latin typeface="Arial"/>
                          <a:ea typeface="Arial"/>
                          <a:cs typeface="Arial"/>
                        </a:rPr>
                        <a:t>Easier access to</a:t>
                      </a:r>
                    </a:p>
                    <a:p>
                      <a:pPr algn="l">
                        <a:lnSpc>
                          <a:spcPct val="102000"/>
                        </a:lnSpc>
                        <a:buNone/>
                      </a:pPr>
                      <a:r>
                        <a:rPr sz="1575" b="0">
                          <a:solidFill>
                            <a:srgbClr val="0B716A"/>
                          </a:solidFill>
                          <a:latin typeface="Arial"/>
                          <a:ea typeface="Arial"/>
                          <a:cs typeface="Arial"/>
                        </a:rPr>
                        <a:t>regulatory guidance</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r>
              <a:tr h="733425">
                <a:tc>
                  <a:txBody>
                    <a:bodyPr wrap="square" lIns="133350" tIns="76200" rIns="133350" bIns="76200">
                      <a:noAutofit/>
                    </a:bodyPr>
                    <a:lstStyle/>
                    <a:p>
                      <a:pPr algn="l">
                        <a:lnSpc>
                          <a:spcPct val="102000"/>
                        </a:lnSpc>
                        <a:buNone/>
                      </a:pPr>
                      <a:r>
                        <a:rPr sz="1575" b="1">
                          <a:solidFill>
                            <a:srgbClr val="193047"/>
                          </a:solidFill>
                          <a:latin typeface="Arial"/>
                          <a:ea typeface="Arial"/>
                          <a:cs typeface="Arial"/>
                        </a:rPr>
                        <a:t>Cultivators</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75" b="0">
                          <a:solidFill>
                            <a:srgbClr val="193047"/>
                          </a:solidFill>
                          <a:latin typeface="Arial"/>
                          <a:ea typeface="Arial"/>
                          <a:cs typeface="Arial"/>
                        </a:rPr>
                        <a:t>Unclear ABS and</a:t>
                      </a:r>
                    </a:p>
                    <a:p>
                      <a:pPr algn="l">
                        <a:lnSpc>
                          <a:spcPct val="102000"/>
                        </a:lnSpc>
                        <a:buNone/>
                      </a:pPr>
                      <a:r>
                        <a:rPr sz="1575" b="0">
                          <a:solidFill>
                            <a:srgbClr val="193047"/>
                          </a:solidFill>
                          <a:latin typeface="Arial"/>
                          <a:ea typeface="Arial"/>
                          <a:cs typeface="Arial"/>
                        </a:rPr>
                        <a:t>traditional-knowledge duties</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75" b="0">
                          <a:solidFill>
                            <a:srgbClr val="193047"/>
                          </a:solidFill>
                          <a:latin typeface="Arial"/>
                          <a:ea typeface="Arial"/>
                          <a:cs typeface="Arial"/>
                        </a:rPr>
                        <a:t>ABS guidance +</a:t>
                      </a:r>
                    </a:p>
                    <a:p>
                      <a:pPr algn="l">
                        <a:lnSpc>
                          <a:spcPct val="102000"/>
                        </a:lnSpc>
                        <a:buNone/>
                      </a:pPr>
                      <a:r>
                        <a:rPr sz="1575" b="0">
                          <a:solidFill>
                            <a:srgbClr val="193047"/>
                          </a:solidFill>
                          <a:latin typeface="Arial"/>
                          <a:ea typeface="Arial"/>
                          <a:cs typeface="Arial"/>
                        </a:rPr>
                        <a:t>appropriate TKDL referral</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75" b="0">
                          <a:solidFill>
                            <a:srgbClr val="0B716A"/>
                          </a:solidFill>
                          <a:latin typeface="Arial"/>
                          <a:ea typeface="Arial"/>
                          <a:cs typeface="Arial"/>
                        </a:rPr>
                        <a:t>Better awareness of</a:t>
                      </a:r>
                    </a:p>
                    <a:p>
                      <a:pPr algn="l">
                        <a:lnSpc>
                          <a:spcPct val="102000"/>
                        </a:lnSpc>
                        <a:buNone/>
                      </a:pPr>
                      <a:r>
                        <a:rPr sz="1575" b="0">
                          <a:solidFill>
                            <a:srgbClr val="0B716A"/>
                          </a:solidFill>
                          <a:latin typeface="Arial"/>
                          <a:ea typeface="Arial"/>
                          <a:cs typeface="Arial"/>
                        </a:rPr>
                        <a:t>benefit-sharing obligations</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r>
            </a:tbl>
          </a:graphicData>
        </a:graphic>
      </p:graphicFrame>
      <p:sp>
        <p:nvSpPr>
          <p:cNvPr id="17415" name="Pilot measurement title">
            <a:extLst xmlns:a="http://schemas.openxmlformats.org/drawingml/2006/main">
              <a:ext uri="{FF2B5EF4-FFF2-40B4-BE49-F238E27FC236}">
                <a16:creationId xmlns:a16="http://schemas.microsoft.com/office/drawing/2014/main" id="{954C03E7-23DC-4F8E-8A58-21DD9FA9BBE3}"/>
              </a:ext>
            </a:extLst>
          </p:cNvPr>
          <p:cNvSpPr>
            <a:spLocks xmlns:a="http://schemas.openxmlformats.org/drawingml/2006/main" noGrp="1"/>
          </p:cNvSpPr>
          <p:nvPr/>
        </p:nvSpPr>
        <p:spPr>
          <a:xfrm xmlns:a="http://schemas.openxmlformats.org/drawingml/2006/main">
            <a:off x="428625" y="5200650"/>
            <a:ext cx="11315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556575"/>
                </a:solidFill>
                <a:latin typeface="Arial"/>
                <a:ea typeface="Arial"/>
                <a:cs typeface="Arial"/>
              </a:defRPr>
            </a:pPr>
            <a:r>
              <a:t>HOW THE PILOT WILL TEST IMPACT</a:t>
            </a:r>
          </a:p>
        </p:txBody>
      </p:sp>
      <p:sp>
        <p:nvSpPr>
          <p:cNvPr id="17416" name="Time measure label">
            <a:extLst xmlns:a="http://schemas.openxmlformats.org/drawingml/2006/main">
              <a:ext uri="{FF2B5EF4-FFF2-40B4-BE49-F238E27FC236}">
                <a16:creationId xmlns:a16="http://schemas.microsoft.com/office/drawing/2014/main" id="{2FDD55D3-7807-4713-A4C7-31E5176C19F9}"/>
              </a:ext>
            </a:extLst>
          </p:cNvPr>
          <p:cNvSpPr>
            <a:spLocks xmlns:a="http://schemas.openxmlformats.org/drawingml/2006/main" noGrp="1"/>
          </p:cNvSpPr>
          <p:nvPr/>
        </p:nvSpPr>
        <p:spPr>
          <a:xfrm xmlns:a="http://schemas.openxmlformats.org/drawingml/2006/main">
            <a:off x="428625" y="5581650"/>
            <a:ext cx="346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365D"/>
                </a:solidFill>
                <a:latin typeface="Arial"/>
                <a:ea typeface="Arial"/>
                <a:cs typeface="Arial"/>
              </a:defRPr>
            </a:pPr>
            <a:r>
              <a:t>Faster, correct next steps</a:t>
            </a:r>
          </a:p>
        </p:txBody>
      </p:sp>
      <p:sp>
        <p:nvSpPr>
          <p:cNvPr id="17417" name="Time measure method">
            <a:extLst xmlns:a="http://schemas.openxmlformats.org/drawingml/2006/main">
              <a:ext uri="{FF2B5EF4-FFF2-40B4-BE49-F238E27FC236}">
                <a16:creationId xmlns:a16="http://schemas.microsoft.com/office/drawing/2014/main" id="{BB2137FA-6C77-40C6-AB16-F2CD114756D3}"/>
              </a:ext>
            </a:extLst>
          </p:cNvPr>
          <p:cNvSpPr>
            <a:spLocks xmlns:a="http://schemas.openxmlformats.org/drawingml/2006/main" noGrp="1"/>
          </p:cNvSpPr>
          <p:nvPr/>
        </p:nvSpPr>
        <p:spPr>
          <a:xfrm xmlns:a="http://schemas.openxmlformats.org/drawingml/2006/main">
            <a:off x="428625" y="5924550"/>
            <a:ext cx="3467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93047"/>
                </a:solidFill>
                <a:latin typeface="Arial"/>
                <a:ea typeface="Arial"/>
                <a:cs typeface="Arial"/>
              </a:defRPr>
            </a:pPr>
            <a:r>
              <a:t>Timed tasks vs manual search</a:t>
            </a:r>
          </a:p>
        </p:txBody>
      </p:sp>
      <p:sp>
        <p:nvSpPr>
          <p:cNvPr id="17418" name="Quality measure label">
            <a:extLst xmlns:a="http://schemas.openxmlformats.org/drawingml/2006/main">
              <a:ext uri="{FF2B5EF4-FFF2-40B4-BE49-F238E27FC236}">
                <a16:creationId xmlns:a16="http://schemas.microsoft.com/office/drawing/2014/main" id="{50CFEA43-D2EB-465F-942E-E7B8C00F4CB2}"/>
              </a:ext>
            </a:extLst>
          </p:cNvPr>
          <p:cNvSpPr>
            <a:spLocks xmlns:a="http://schemas.openxmlformats.org/drawingml/2006/main" noGrp="1"/>
          </p:cNvSpPr>
          <p:nvPr/>
        </p:nvSpPr>
        <p:spPr>
          <a:xfrm xmlns:a="http://schemas.openxmlformats.org/drawingml/2006/main">
            <a:off x="4210050" y="5581650"/>
            <a:ext cx="3876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365D"/>
                </a:solidFill>
                <a:latin typeface="Arial"/>
                <a:ea typeface="Arial"/>
                <a:cs typeface="Arial"/>
              </a:defRPr>
            </a:pPr>
            <a:r>
              <a:t>Guidance understood</a:t>
            </a:r>
          </a:p>
        </p:txBody>
      </p:sp>
      <p:sp>
        <p:nvSpPr>
          <p:cNvPr id="17419" name="Quality measure method">
            <a:extLst xmlns:a="http://schemas.openxmlformats.org/drawingml/2006/main">
              <a:ext uri="{FF2B5EF4-FFF2-40B4-BE49-F238E27FC236}">
                <a16:creationId xmlns:a16="http://schemas.microsoft.com/office/drawing/2014/main" id="{A3AAC399-81E7-4B34-B6A3-17B9C9E6A8E9}"/>
              </a:ext>
            </a:extLst>
          </p:cNvPr>
          <p:cNvSpPr>
            <a:spLocks xmlns:a="http://schemas.openxmlformats.org/drawingml/2006/main" noGrp="1"/>
          </p:cNvSpPr>
          <p:nvPr/>
        </p:nvSpPr>
        <p:spPr>
          <a:xfrm xmlns:a="http://schemas.openxmlformats.org/drawingml/2006/main">
            <a:off x="4210050" y="5924550"/>
            <a:ext cx="3876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93047"/>
                </a:solidFill>
                <a:latin typeface="Arial"/>
                <a:ea typeface="Arial"/>
                <a:cs typeface="Arial"/>
              </a:defRPr>
            </a:pPr>
            <a:r>
              <a:t>Expert-scored scenarios by language</a:t>
            </a:r>
          </a:p>
        </p:txBody>
      </p:sp>
      <p:sp>
        <p:nvSpPr>
          <p:cNvPr id="17420" name="Awareness measure label">
            <a:extLst xmlns:a="http://schemas.openxmlformats.org/drawingml/2006/main">
              <a:ext uri="{FF2B5EF4-FFF2-40B4-BE49-F238E27FC236}">
                <a16:creationId xmlns:a16="http://schemas.microsoft.com/office/drawing/2014/main" id="{C02293A4-B21A-462C-9036-662CBE349674}"/>
              </a:ext>
            </a:extLst>
          </p:cNvPr>
          <p:cNvSpPr>
            <a:spLocks xmlns:a="http://schemas.openxmlformats.org/drawingml/2006/main" noGrp="1"/>
          </p:cNvSpPr>
          <p:nvPr/>
        </p:nvSpPr>
        <p:spPr>
          <a:xfrm xmlns:a="http://schemas.openxmlformats.org/drawingml/2006/main">
            <a:off x="8477250" y="5581650"/>
            <a:ext cx="3305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365D"/>
                </a:solidFill>
                <a:latin typeface="Arial"/>
                <a:ea typeface="Arial"/>
                <a:cs typeface="Arial"/>
              </a:defRPr>
            </a:pPr>
            <a:r>
              <a:t>ABS awareness</a:t>
            </a:r>
          </a:p>
        </p:txBody>
      </p:sp>
      <p:sp>
        <p:nvSpPr>
          <p:cNvPr id="17421" name="Awareness measure method">
            <a:extLst xmlns:a="http://schemas.openxmlformats.org/drawingml/2006/main">
              <a:ext uri="{FF2B5EF4-FFF2-40B4-BE49-F238E27FC236}">
                <a16:creationId xmlns:a16="http://schemas.microsoft.com/office/drawing/2014/main" id="{6D686425-733C-493D-87F5-904074476563}"/>
              </a:ext>
            </a:extLst>
          </p:cNvPr>
          <p:cNvSpPr>
            <a:spLocks xmlns:a="http://schemas.openxmlformats.org/drawingml/2006/main" noGrp="1"/>
          </p:cNvSpPr>
          <p:nvPr/>
        </p:nvSpPr>
        <p:spPr>
          <a:xfrm xmlns:a="http://schemas.openxmlformats.org/drawingml/2006/main">
            <a:off x="8477250" y="5924550"/>
            <a:ext cx="3305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93047"/>
                </a:solidFill>
                <a:latin typeface="Arial"/>
                <a:ea typeface="Arial"/>
                <a:cs typeface="Arial"/>
              </a:defRPr>
            </a:pPr>
            <a:r>
              <a:t>Before/after tasks on ABS duties</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17365D"/>
          </a:solidFill>
          <a:ln xmlns:a="http://schemas.openxmlformats.org/drawingml/2006/main" w="0">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DC1A294B-F0A3-4890-B476-DEBFBDA8388B}"/>
              </a:ext>
            </a:extLst>
          </p:cNvPr>
          <p:cNvSpPr>
            <a:spLocks xmlns:a="http://schemas.openxmlformats.org/drawingml/2006/main" noGrp="1"/>
          </p:cNvSpPr>
          <p:nvPr>
            <p:ph type="title" idx="0"/>
          </p:nvPr>
        </p:nvSpPr>
        <p:spPr>
          <a:xfrm xmlns:a="http://schemas.openxmlformats.org/drawingml/2006/main">
            <a:off x="1828800" y="323850"/>
            <a:ext cx="7867650" cy="609600"/>
          </a:xfrm>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3000" b="1">
                <a:solidFill>
                  <a:srgbClr val="17365D"/>
                </a:solidFill>
                <a:latin typeface="Arial"/>
                <a:ea typeface="Arial"/>
                <a:cs typeface="Arial"/>
              </a:defRPr>
            </a:pPr>
            <a:r>
              <a:rPr sz="3000" b="1">
                <a:solidFill>
                  <a:srgbClr val="17365D"/>
                </a:solidFill>
                <a:latin typeface="Arial"/>
                <a:ea typeface="Arial"/>
                <a:cs typeface="Arial"/>
              </a:rPr>
              <a:t>RESEARCH AND REFERENCES</a:t>
            </a:r>
          </a:p>
        </p:txBody>
      </p:sp>
      <p:sp>
        <p:nvSpPr>
          <p:cNvPr id="6" name="Slide Number Placeholder 5">
            <a:extLst xmlns:a="http://schemas.openxmlformats.org/drawingml/2006/main">
              <a:ext uri="{FF2B5EF4-FFF2-40B4-BE49-F238E27FC236}">
                <a16:creationId xmlns:a16="http://schemas.microsoft.com/office/drawing/2014/main" id="{EECAB8D6-F209-4867-9969-922BE2891948}"/>
              </a:ext>
            </a:extLst>
          </p:cNvPr>
          <p:cNvSpPr>
            <a:spLocks xmlns:a="http://schemas.openxmlformats.org/drawingml/2006/main" noGrp="1"/>
          </p:cNvSpPr>
          <p:nvPr>
            <p:ph type="sldNum" idx="12"/>
          </p:nvPr>
        </p:nvSpPr>
        <p:spPr>
          <a:xfrm xmlns:a="http://schemas.openxmlformats.org/drawingml/2006/main">
            <a:off x="10953750" y="6391275"/>
            <a:ext cx="619125" cy="333375"/>
          </a:xfrm>
        </p:spPr>
        <p:txBody>
          <a:bodyPr xmlns:a="http://schemas.openxmlformats.org/drawingml/2006/main" wrap="square" lIns="0" tIns="0" rIns="0" bIns="0" anchor="ctr">
            <a:noAutofit/>
          </a:bodyPr>
          <a:lstStyle xmlns:a="http://schemas.openxmlformats.org/drawingml/2006/main"/>
          <a:p xmlns:a="http://schemas.openxmlformats.org/drawingml/2006/main">
            <a:pPr marL="0" marR="0" lvl="0" indent="0" algn="r" defTabSz="457200">
              <a:lnSpc>
                <a:spcPct val="105000"/>
              </a:lnSpc>
              <a:spcBef>
                <a:spcPct val="0"/>
              </a:spcBef>
              <a:spcAft>
                <a:spcPct val="0"/>
              </a:spcAft>
              <a:buClrTx/>
              <a:buSzTx/>
              <a:buFontTx/>
              <a:buNone/>
              <a:defRPr sz="1200" b="1">
                <a:solidFill>
                  <a:srgbClr val="FFFFFF"/>
                </a:solidFill>
                <a:latin typeface="Arial"/>
                <a:ea typeface="Arial"/>
                <a:cs typeface="Arial"/>
              </a:defRPr>
            </a:pPr>
            <a:fld id="{8C630A04-5A25-9E0C-9436-126091DB86B3}" type="slidenum">
              <a:rPr sz="1200"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5BFFA1A0-F86C-4676-8A19-2C4D4FC476C5}"/>
              </a:ext>
            </a:extLst>
          </p:cNvPr>
          <p:cNvSpPr>
            <a:spLocks xmlns:a="http://schemas.openxmlformats.org/drawingml/2006/main" noGrp="1"/>
          </p:cNvSpPr>
          <p:nvPr>
            <p:ph type="ftr" idx="11"/>
          </p:nvPr>
        </p:nvSpPr>
        <p:spPr>
          <a:xfrm xmlns:a="http://schemas.openxmlformats.org/drawingml/2006/main">
            <a:off x="4257675" y="6391275"/>
            <a:ext cx="3914775" cy="333375"/>
          </a:xfrm>
        </p:spPr>
        <p:txBody>
          <a:bodyPr xmlns:a="http://schemas.openxmlformats.org/drawingml/2006/main" wrap="square" lIns="0" tIns="0" rIns="0" bIns="0" anchor="ctr">
            <a:noAutofit/>
          </a:bodyPr>
          <a:lstStyle xmlns:a="http://schemas.openxmlformats.org/drawingml/2006/main"/>
          <a:p xmlns:a="http://schemas.openxmlformats.org/drawingml/2006/main">
            <a:pPr marL="0" marR="0" lvl="0" indent="0" algn="ctr" defTabSz="457200">
              <a:lnSpc>
                <a:spcPct val="105000"/>
              </a:lnSpc>
              <a:spcBef>
                <a:spcPts val="0"/>
              </a:spcBef>
              <a:spcAft>
                <a:spcPts val="0"/>
              </a:spcAft>
              <a:buClrTx/>
              <a:buSzTx/>
              <a:buFontTx/>
              <a:buNone/>
              <a:defRPr sz="1163" b="0">
                <a:solidFill>
                  <a:srgbClr val="FFFFFF"/>
                </a:solidFill>
                <a:latin typeface="Arial"/>
                <a:ea typeface="Arial"/>
                <a:cs typeface="Arial"/>
              </a:defRPr>
            </a:pPr>
            <a:r>
              <a:rPr sz="1163" b="0" i="0" u="none" cap="none" spc="0">
                <a:ln>
                  <a:noFill/>
                </a:ln>
                <a:solidFill>
                  <a:srgbClr val="FFFFFF"/>
                </a:solidFill>
                <a:latin typeface="Arial"/>
                <a:ea typeface="Arial"/>
                <a:cs typeface="Arial"/>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a:solidFill xmlns:a="http://schemas.openxmlformats.org/drawingml/2006/main">
            <a:srgbClr val="FFFFFF"/>
          </a:solidFill>
          <a:ln xmlns:a="http://schemas.openxmlformats.org/drawingml/2006/main" w="15240">
            <a:solidFill>
              <a:srgbClr val="17365D"/>
            </a:solidFill>
            <a:prstDash val="solid"/>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lnSpc>
                <a:spcPct val="105000"/>
              </a:lnSpc>
              <a:buNone/>
              <a:defRPr sz="1725" b="1">
                <a:solidFill>
                  <a:srgbClr val="17365D"/>
                </a:solidFill>
                <a:latin typeface="Arial"/>
                <a:ea typeface="Arial"/>
                <a:cs typeface="Arial"/>
              </a:defRPr>
            </a:pPr>
            <a:r>
              <a:rPr sz="1725" b="1">
                <a:solidFill>
                  <a:srgbClr val="17365D"/>
                </a:solidFill>
                <a:latin typeface="Arial"/>
                <a:ea typeface="Arial"/>
                <a:cs typeface="Arial"/>
              </a:rPr>
              <a:t>Victor</a:t>
            </a:r>
            <a:endParaRPr/>
          </a:p>
          <a:p xmlns:a="http://schemas.openxmlformats.org/drawingml/2006/main">
            <a:pPr algn="ctr">
              <a:lnSpc>
                <a:spcPct val="105000"/>
              </a:lnSpc>
              <a:buNone/>
              <a:defRPr sz="1725" b="1">
                <a:solidFill>
                  <a:srgbClr val="17365D"/>
                </a:solidFill>
                <a:latin typeface="Arial"/>
                <a:ea typeface="Arial"/>
                <a:cs typeface="Arial"/>
              </a:defRPr>
            </a:pPr>
            <a:r>
              <a:rPr sz="1725" b="1">
                <a:solidFill>
                  <a:srgbClr val="17365D"/>
                </a:solidFill>
                <a:latin typeface="Arial"/>
                <a:ea typeface="Arial"/>
                <a:cs typeface="Arial"/>
              </a:rPr>
              <a:t>Bytes</a:t>
            </a:r>
            <a:endParaRPr/>
          </a:p>
        </p:txBody>
      </p:sp>
      <p:pic>
        <p:nvPicPr>
          <p:cNvPr id="17420" name="Picture 11"/>
          <p:cNvPicPr>
            <a:picLocks xmlns:a="http://schemas.openxmlformats.org/drawingml/2006/main" noChangeAspect="1"/>
          </p:cNvPicPr>
          <p:nvPr/>
        </p:nvPicPr>
        <p:blipFill>
          <a:blip xmlns:r="http://schemas.openxmlformats.org/officeDocument/2006/relationships" xmlns:a="http://schemas.openxmlformats.org/drawingml/2006/main" r:embed="R303349f424ce4bd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Evidence title">
            <a:extLst xmlns:a="http://schemas.openxmlformats.org/drawingml/2006/main">
              <a:ext uri="{FF2B5EF4-FFF2-40B4-BE49-F238E27FC236}">
                <a16:creationId xmlns:a16="http://schemas.microsoft.com/office/drawing/2014/main" id="{CF28A7DE-42EC-4EBB-8111-2D2FF022EF85}"/>
              </a:ext>
            </a:extLst>
          </p:cNvPr>
          <p:cNvSpPr>
            <a:spLocks xmlns:a="http://schemas.openxmlformats.org/drawingml/2006/main" noGrp="1"/>
          </p:cNvSpPr>
          <p:nvPr/>
        </p:nvSpPr>
        <p:spPr>
          <a:xfrm xmlns:a="http://schemas.openxmlformats.org/drawingml/2006/main">
            <a:off x="419100" y="135255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65D"/>
                </a:solidFill>
                <a:latin typeface="Arial"/>
                <a:ea typeface="Arial"/>
                <a:cs typeface="Arial"/>
              </a:defRPr>
            </a:pPr>
            <a:r>
              <a:t>Evidence behind the regulatory workflow</a:t>
            </a:r>
          </a:p>
        </p:txBody>
      </p:sp>
      <p:graphicFrame>
        <p:nvGraphicFramePr>
          <p:cNvPr id="17422" name="Evidence and design consequences"/>
          <p:cNvGraphicFramePr/>
          <p:nvPr/>
        </p:nvGraphicFramePr>
        <p:xfrm>
          <a:off xmlns:a="http://schemas.openxmlformats.org/drawingml/2006/main" x="419100" y="2000250"/>
          <a:ext xmlns:a="http://schemas.openxmlformats.org/drawingml/2006/main" cx="11353800" cy="4095750"/>
        </p:xfrm>
        <a:graphic xmlns:a="http://schemas.openxmlformats.org/drawingml/2006/main">
          <a:graphicData uri="http://schemas.openxmlformats.org/drawingml/2006/table">
            <a:tbl>
              <a:tblPr firstRow="0" firstCol="0" lastRow="0" lastCol="0" bandRow="0" bandCol="0"/>
              <a:tblGrid>
                <a:gridCol w="2543175"/>
                <a:gridCol w="4448175"/>
                <a:gridCol w="4362450"/>
              </a:tblGrid>
              <a:tr h="381000">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Evidence area</a:t>
                      </a:r>
                    </a:p>
                  </a:txBody>
                  <a:tcPr marL="133350" marR="133350" marT="76200" marB="76200" anchor="ctr">
                    <a:lnL w="0">
                      <a:solidFill>
                        <a:srgbClr val="17365D"/>
                      </a:solidFill>
                    </a:lnL>
                    <a:lnR w="0">
                      <a:solidFill>
                        <a:srgbClr val="17365D"/>
                      </a:solidFill>
                    </a:lnR>
                    <a:lnT w="0">
                      <a:solidFill>
                        <a:srgbClr val="17365D"/>
                      </a:solidFill>
                    </a:lnT>
                    <a:lnB w="0">
                      <a:solidFill>
                        <a:srgbClr val="17365D"/>
                      </a:solidFill>
                    </a:lnB>
                    <a:solidFill>
                      <a:srgbClr val="17365D"/>
                    </a:solidFill>
                  </a:tcPr>
                </a:tc>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Source cited in the proposal</a:t>
                      </a:r>
                    </a:p>
                  </a:txBody>
                  <a:tcPr marL="133350" marR="133350" marT="76200" marB="76200" anchor="ctr">
                    <a:lnL w="0">
                      <a:solidFill>
                        <a:srgbClr val="17365D"/>
                      </a:solidFill>
                    </a:lnL>
                    <a:lnR w="0">
                      <a:solidFill>
                        <a:srgbClr val="17365D"/>
                      </a:solidFill>
                    </a:lnR>
                    <a:lnT w="0">
                      <a:solidFill>
                        <a:srgbClr val="17365D"/>
                      </a:solidFill>
                    </a:lnT>
                    <a:lnB w="0">
                      <a:solidFill>
                        <a:srgbClr val="17365D"/>
                      </a:solidFill>
                    </a:lnB>
                    <a:solidFill>
                      <a:srgbClr val="17365D"/>
                    </a:solidFill>
                  </a:tcPr>
                </a:tc>
                <a:tc>
                  <a:txBody>
                    <a:bodyPr wrap="square" lIns="133350" tIns="76200" rIns="133350" bIns="76200">
                      <a:noAutofit/>
                    </a:bodyPr>
                    <a:lstStyle/>
                    <a:p>
                      <a:pPr algn="l">
                        <a:lnSpc>
                          <a:spcPct val="102000"/>
                        </a:lnSpc>
                        <a:buNone/>
                      </a:pPr>
                      <a:r>
                        <a:rPr sz="1500" b="1">
                          <a:solidFill>
                            <a:srgbClr val="FFFFFF"/>
                          </a:solidFill>
                          <a:latin typeface="Arial"/>
                          <a:ea typeface="Arial"/>
                          <a:cs typeface="Arial"/>
                        </a:rPr>
                        <a:t>Design consequence</a:t>
                      </a:r>
                    </a:p>
                  </a:txBody>
                  <a:tcPr marL="133350" marR="133350" marT="76200" marB="76200" anchor="ctr">
                    <a:lnL w="0">
                      <a:solidFill>
                        <a:srgbClr val="0B716A"/>
                      </a:solidFill>
                    </a:lnL>
                    <a:lnR w="0">
                      <a:solidFill>
                        <a:srgbClr val="0B716A"/>
                      </a:solidFill>
                    </a:lnR>
                    <a:lnT w="0">
                      <a:solidFill>
                        <a:srgbClr val="0B716A"/>
                      </a:solidFill>
                    </a:lnT>
                    <a:lnB w="0">
                      <a:solidFill>
                        <a:srgbClr val="0B716A"/>
                      </a:solidFill>
                    </a:lnB>
                    <a:solidFill>
                      <a:srgbClr val="0B716A"/>
                    </a:solidFill>
                  </a:tcPr>
                </a:tc>
              </a:tr>
              <a:tr h="619125">
                <a:tc>
                  <a:txBody>
                    <a:bodyPr wrap="square" lIns="133350" tIns="76200" rIns="133350" bIns="76200">
                      <a:noAutofit/>
                    </a:bodyPr>
                    <a:lstStyle/>
                    <a:p>
                      <a:pPr algn="l">
                        <a:lnSpc>
                          <a:spcPct val="102000"/>
                        </a:lnSpc>
                        <a:buNone/>
                      </a:pPr>
                      <a:r>
                        <a:rPr sz="1538" b="1">
                          <a:solidFill>
                            <a:srgbClr val="193047"/>
                          </a:solidFill>
                          <a:latin typeface="Arial"/>
                          <a:ea typeface="Arial"/>
                          <a:cs typeface="Arial"/>
                        </a:rPr>
                        <a:t>Problem scope</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38" b="0">
                          <a:solidFill>
                            <a:srgbClr val="193047"/>
                          </a:solidFill>
                          <a:latin typeface="Arial"/>
                          <a:ea typeface="Arial"/>
                          <a:cs typeface="Arial"/>
                        </a:rPr>
                        <a:t>Ministry of Ayush</a:t>
                      </a:r>
                    </a:p>
                    <a:p>
                      <a:pPr algn="l">
                        <a:lnSpc>
                          <a:spcPct val="102000"/>
                        </a:lnSpc>
                        <a:buNone/>
                      </a:pPr>
                      <a:r>
                        <a:rPr sz="1538" b="0">
                          <a:solidFill>
                            <a:srgbClr val="193047"/>
                          </a:solidFill>
                          <a:latin typeface="Arial"/>
                          <a:ea typeface="Arial"/>
                          <a:cs typeface="Arial"/>
                        </a:rPr>
                        <a:t>SIH 2026 PS 26045</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38" b="0">
                          <a:solidFill>
                            <a:srgbClr val="0B716A"/>
                          </a:solidFill>
                          <a:latin typeface="Arial"/>
                          <a:ea typeface="Arial"/>
                          <a:cs typeface="Arial"/>
                        </a:rPr>
                        <a:t>IP and regulatory guidance</a:t>
                      </a:r>
                    </a:p>
                    <a:p>
                      <a:pPr algn="l">
                        <a:lnSpc>
                          <a:spcPct val="102000"/>
                        </a:lnSpc>
                        <a:buNone/>
                      </a:pPr>
                      <a:r>
                        <a:rPr sz="1538" b="0">
                          <a:solidFill>
                            <a:srgbClr val="0B716A"/>
                          </a:solidFill>
                          <a:latin typeface="Arial"/>
                          <a:ea typeface="Arial"/>
                          <a:cs typeface="Arial"/>
                        </a:rPr>
                        <a:t>for Ayurveda users</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r>
              <a:tr h="619125">
                <a:tc>
                  <a:txBody>
                    <a:bodyPr wrap="square" lIns="133350" tIns="76200" rIns="133350" bIns="76200">
                      <a:noAutofit/>
                    </a:bodyPr>
                    <a:lstStyle/>
                    <a:p>
                      <a:pPr algn="l">
                        <a:lnSpc>
                          <a:spcPct val="102000"/>
                        </a:lnSpc>
                        <a:buNone/>
                      </a:pPr>
                      <a:r>
                        <a:rPr sz="1538" b="1">
                          <a:solidFill>
                            <a:srgbClr val="193047"/>
                          </a:solidFill>
                          <a:latin typeface="Arial"/>
                          <a:ea typeface="Arial"/>
                          <a:cs typeface="Arial"/>
                        </a:rPr>
                        <a:t>Indian regulatory rules</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38" b="0" u="sng">
                          <a:solidFill>
                            <a:srgbClr val="245C91"/>
                          </a:solidFill>
                          <a:latin typeface="Arial"/>
                          <a:ea typeface="Arial"/>
                          <a:cs typeface="Arial"/>
                          <a:hlinkClick xmlns:r="http://schemas.openxmlformats.org/officeDocument/2006/relationships" r:id="R21bd30f5b1a54fb6"/>
                        </a:rPr>
                        <a:t>India Code</a:t>
                      </a:r>
                      <a:r>
                        <a:rPr sz="1538" b="0">
                          <a:solidFill>
                            <a:srgbClr val="193047"/>
                          </a:solidFill>
                          <a:latin typeface="Arial"/>
                          <a:ea typeface="Arial"/>
                          <a:cs typeface="Arial"/>
                        </a:rPr>
                        <a:t> / </a:t>
                      </a:r>
                      <a:r>
                        <a:rPr sz="1538" b="0" u="sng">
                          <a:solidFill>
                            <a:srgbClr val="245C91"/>
                          </a:solidFill>
                          <a:latin typeface="Arial"/>
                          <a:ea typeface="Arial"/>
                          <a:cs typeface="Arial"/>
                          <a:hlinkClick xmlns:r="http://schemas.openxmlformats.org/officeDocument/2006/relationships" r:id="Rdbef76608bdb4393"/>
                        </a:rPr>
                        <a:t>IP India</a:t>
                      </a:r>
                    </a:p>
                    <a:p>
                      <a:pPr algn="l">
                        <a:lnSpc>
                          <a:spcPct val="102000"/>
                        </a:lnSpc>
                        <a:buNone/>
                      </a:pPr>
                      <a:r>
                        <a:rPr sz="1538" b="0" u="sng">
                          <a:solidFill>
                            <a:srgbClr val="245C91"/>
                          </a:solidFill>
                          <a:latin typeface="Arial"/>
                          <a:ea typeface="Arial"/>
                          <a:cs typeface="Arial"/>
                          <a:hlinkClick xmlns:r="http://schemas.openxmlformats.org/officeDocument/2006/relationships" r:id="R36a4aee41f994abe"/>
                        </a:rPr>
                        <a:t>CDSCO</a:t>
                      </a:r>
                      <a:r>
                        <a:rPr sz="1538" b="0">
                          <a:solidFill>
                            <a:srgbClr val="193047"/>
                          </a:solidFill>
                          <a:latin typeface="Arial"/>
                          <a:ea typeface="Arial"/>
                          <a:cs typeface="Arial"/>
                        </a:rPr>
                        <a:t> / </a:t>
                      </a:r>
                      <a:r>
                        <a:rPr sz="1538" b="0" u="sng">
                          <a:solidFill>
                            <a:srgbClr val="245C91"/>
                          </a:solidFill>
                          <a:latin typeface="Arial"/>
                          <a:ea typeface="Arial"/>
                          <a:cs typeface="Arial"/>
                          <a:hlinkClick xmlns:r="http://schemas.openxmlformats.org/officeDocument/2006/relationships" r:id="R2022034e7be349db"/>
                        </a:rPr>
                        <a:t>FSSAI</a:t>
                      </a:r>
                      <a:r>
                        <a:rPr sz="1538" b="0">
                          <a:solidFill>
                            <a:srgbClr val="193047"/>
                          </a:solidFill>
                          <a:latin typeface="Arial"/>
                          <a:ea typeface="Arial"/>
                          <a:cs typeface="Arial"/>
                        </a:rPr>
                        <a:t> / </a:t>
                      </a:r>
                      <a:r>
                        <a:rPr sz="1538" b="0" u="sng">
                          <a:solidFill>
                            <a:srgbClr val="245C91"/>
                          </a:solidFill>
                          <a:latin typeface="Arial"/>
                          <a:ea typeface="Arial"/>
                          <a:cs typeface="Arial"/>
                          <a:hlinkClick xmlns:r="http://schemas.openxmlformats.org/officeDocument/2006/relationships" r:id="R212e2efb78f34354"/>
                        </a:rPr>
                        <a:t>NBA</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38" b="0">
                          <a:solidFill>
                            <a:srgbClr val="0B716A"/>
                          </a:solidFill>
                          <a:latin typeface="Arial"/>
                          <a:ea typeface="Arial"/>
                          <a:cs typeface="Arial"/>
                        </a:rPr>
                        <a:t>Category-specific statutes</a:t>
                      </a:r>
                    </a:p>
                    <a:p>
                      <a:pPr algn="l">
                        <a:lnSpc>
                          <a:spcPct val="102000"/>
                        </a:lnSpc>
                        <a:buNone/>
                      </a:pPr>
                      <a:r>
                        <a:rPr sz="1538" b="0">
                          <a:solidFill>
                            <a:srgbClr val="0B716A"/>
                          </a:solidFill>
                          <a:latin typeface="Arial"/>
                          <a:ea typeface="Arial"/>
                          <a:cs typeface="Arial"/>
                        </a:rPr>
                        <a:t>and IP / ABS obligations</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r>
              <a:tr h="619125">
                <a:tc>
                  <a:txBody>
                    <a:bodyPr wrap="square" lIns="133350" tIns="76200" rIns="133350" bIns="76200">
                      <a:noAutofit/>
                    </a:bodyPr>
                    <a:lstStyle/>
                    <a:p>
                      <a:pPr algn="l">
                        <a:lnSpc>
                          <a:spcPct val="102000"/>
                        </a:lnSpc>
                        <a:buNone/>
                      </a:pPr>
                      <a:r>
                        <a:rPr sz="1538" b="1">
                          <a:solidFill>
                            <a:srgbClr val="193047"/>
                          </a:solidFill>
                          <a:latin typeface="Arial"/>
                          <a:ea typeface="Arial"/>
                          <a:cs typeface="Arial"/>
                        </a:rPr>
                        <a:t>International IP</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38" b="0" u="sng">
                          <a:solidFill>
                            <a:srgbClr val="245C91"/>
                          </a:solidFill>
                          <a:latin typeface="Arial"/>
                          <a:ea typeface="Arial"/>
                          <a:cs typeface="Arial"/>
                          <a:hlinkClick xmlns:r="http://schemas.openxmlformats.org/officeDocument/2006/relationships" r:id="R68836aa00be14c26"/>
                        </a:rPr>
                        <a:t>WIPO Lex</a:t>
                      </a:r>
                    </a:p>
                    <a:p>
                      <a:pPr algn="l">
                        <a:lnSpc>
                          <a:spcPct val="102000"/>
                        </a:lnSpc>
                        <a:buNone/>
                      </a:pPr>
                      <a:r>
                        <a:rPr sz="1538" b="0" u="sng">
                          <a:solidFill>
                            <a:srgbClr val="245C91"/>
                          </a:solidFill>
                          <a:latin typeface="Arial"/>
                          <a:ea typeface="Arial"/>
                          <a:cs typeface="Arial"/>
                          <a:hlinkClick xmlns:r="http://schemas.openxmlformats.org/officeDocument/2006/relationships" r:id="R8f2532ad18124bd1"/>
                        </a:rPr>
                        <a:t>WIPO GRATK Treaty</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38" b="0">
                          <a:solidFill>
                            <a:srgbClr val="0B716A"/>
                          </a:solidFill>
                          <a:latin typeface="Arial"/>
                          <a:ea typeface="Arial"/>
                          <a:cs typeface="Arial"/>
                        </a:rPr>
                        <a:t>Separate national and</a:t>
                      </a:r>
                    </a:p>
                    <a:p>
                      <a:pPr algn="l">
                        <a:lnSpc>
                          <a:spcPct val="102000"/>
                        </a:lnSpc>
                        <a:buNone/>
                      </a:pPr>
                      <a:r>
                        <a:rPr sz="1538" b="0">
                          <a:solidFill>
                            <a:srgbClr val="0B716A"/>
                          </a:solidFill>
                          <a:latin typeface="Arial"/>
                          <a:ea typeface="Arial"/>
                          <a:cs typeface="Arial"/>
                        </a:rPr>
                        <a:t>international scope</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r>
              <a:tr h="619125">
                <a:tc>
                  <a:txBody>
                    <a:bodyPr wrap="square" lIns="133350" tIns="76200" rIns="133350" bIns="76200">
                      <a:noAutofit/>
                    </a:bodyPr>
                    <a:lstStyle/>
                    <a:p>
                      <a:pPr algn="l">
                        <a:lnSpc>
                          <a:spcPct val="102000"/>
                        </a:lnSpc>
                        <a:buNone/>
                      </a:pPr>
                      <a:r>
                        <a:rPr sz="1538" b="1">
                          <a:solidFill>
                            <a:srgbClr val="193047"/>
                          </a:solidFill>
                          <a:latin typeface="Arial"/>
                          <a:ea typeface="Arial"/>
                          <a:cs typeface="Arial"/>
                        </a:rPr>
                        <a:t>Traditional knowledge</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38" b="0" u="sng">
                          <a:solidFill>
                            <a:srgbClr val="245C91"/>
                          </a:solidFill>
                          <a:latin typeface="Arial"/>
                          <a:ea typeface="Arial"/>
                          <a:cs typeface="Arial"/>
                          <a:hlinkClick xmlns:r="http://schemas.openxmlformats.org/officeDocument/2006/relationships" r:id="R0d64e34a4b934f45"/>
                        </a:rPr>
                        <a:t>CSIR</a:t>
                      </a:r>
                      <a:r>
                        <a:rPr sz="1538" b="0">
                          <a:solidFill>
                            <a:srgbClr val="193047"/>
                          </a:solidFill>
                          <a:latin typeface="Arial"/>
                          <a:ea typeface="Arial"/>
                          <a:cs typeface="Arial"/>
                        </a:rPr>
                        <a:t> / </a:t>
                      </a:r>
                      <a:r>
                        <a:rPr sz="1538" b="0" u="sng">
                          <a:solidFill>
                            <a:srgbClr val="245C91"/>
                          </a:solidFill>
                          <a:latin typeface="Arial"/>
                          <a:ea typeface="Arial"/>
                          <a:cs typeface="Arial"/>
                          <a:hlinkClick xmlns:r="http://schemas.openxmlformats.org/officeDocument/2006/relationships" r:id="R482c362b79724240"/>
                        </a:rPr>
                        <a:t>TKDL</a:t>
                      </a:r>
                    </a:p>
                    <a:p>
                      <a:pPr algn="l">
                        <a:lnSpc>
                          <a:spcPct val="102000"/>
                        </a:lnSpc>
                        <a:buNone/>
                      </a:pPr>
                      <a:r>
                        <a:rPr sz="1538" b="0">
                          <a:solidFill>
                            <a:srgbClr val="193047"/>
                          </a:solidFill>
                          <a:latin typeface="Arial"/>
                          <a:ea typeface="Arial"/>
                          <a:cs typeface="Arial"/>
                        </a:rPr>
                        <a:t>Public First-Schedule list</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38" b="0">
                          <a:solidFill>
                            <a:srgbClr val="0B716A"/>
                          </a:solidFill>
                          <a:latin typeface="Arial"/>
                          <a:ea typeface="Arial"/>
                          <a:cs typeface="Arial"/>
                        </a:rPr>
                        <a:t>Public evidence and referral</a:t>
                      </a:r>
                    </a:p>
                    <a:p>
                      <a:pPr algn="l">
                        <a:lnSpc>
                          <a:spcPct val="102000"/>
                        </a:lnSpc>
                        <a:buNone/>
                      </a:pPr>
                      <a:r>
                        <a:rPr sz="1538" b="0">
                          <a:solidFill>
                            <a:srgbClr val="0B716A"/>
                          </a:solidFill>
                          <a:latin typeface="Arial"/>
                          <a:ea typeface="Arial"/>
                          <a:cs typeface="Arial"/>
                        </a:rPr>
                        <a:t>Respect restricted TKDL access</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r>
              <a:tr h="619125">
                <a:tc>
                  <a:txBody>
                    <a:bodyPr wrap="square" lIns="133350" tIns="76200" rIns="133350" bIns="76200">
                      <a:noAutofit/>
                    </a:bodyPr>
                    <a:lstStyle/>
                    <a:p>
                      <a:pPr algn="l">
                        <a:lnSpc>
                          <a:spcPct val="102000"/>
                        </a:lnSpc>
                        <a:buNone/>
                      </a:pPr>
                      <a:r>
                        <a:rPr sz="1538" b="1">
                          <a:solidFill>
                            <a:srgbClr val="193047"/>
                          </a:solidFill>
                          <a:latin typeface="Arial"/>
                          <a:ea typeface="Arial"/>
                          <a:cs typeface="Arial"/>
                        </a:rPr>
                        <a:t>Legal AI reliability</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38" b="0" u="sng">
                          <a:solidFill>
                            <a:srgbClr val="245C91"/>
                          </a:solidFill>
                          <a:latin typeface="Arial"/>
                          <a:ea typeface="Arial"/>
                          <a:cs typeface="Arial"/>
                          <a:hlinkClick xmlns:r="http://schemas.openxmlformats.org/officeDocument/2006/relationships" r:id="Re446a11b8e29486a"/>
                        </a:rPr>
                        <a:t>Magesh et al., “Hallucination-Free?”</a:t>
                      </a:r>
                    </a:p>
                    <a:p>
                      <a:pPr algn="l">
                        <a:lnSpc>
                          <a:spcPct val="102000"/>
                        </a:lnSpc>
                        <a:buNone/>
                      </a:pPr>
                      <a:r>
                        <a:rPr sz="1538" b="0">
                          <a:solidFill>
                            <a:srgbClr val="193047"/>
                          </a:solidFill>
                          <a:latin typeface="Arial"/>
                          <a:ea typeface="Arial"/>
                          <a:cs typeface="Arial"/>
                        </a:rPr>
                        <a:t>J. Empirical Legal Studies, 2025</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c>
                  <a:txBody>
                    <a:bodyPr wrap="square" lIns="133350" tIns="76200" rIns="133350" bIns="76200">
                      <a:noAutofit/>
                    </a:bodyPr>
                    <a:lstStyle/>
                    <a:p>
                      <a:pPr algn="l">
                        <a:lnSpc>
                          <a:spcPct val="102000"/>
                        </a:lnSpc>
                        <a:buNone/>
                      </a:pPr>
                      <a:r>
                        <a:rPr sz="1538" b="0">
                          <a:solidFill>
                            <a:srgbClr val="0B716A"/>
                          </a:solidFill>
                          <a:latin typeface="Arial"/>
                          <a:ea typeface="Arial"/>
                          <a:cs typeface="Arial"/>
                        </a:rPr>
                        <a:t>Verify claim support and citations</a:t>
                      </a:r>
                    </a:p>
                    <a:p>
                      <a:pPr algn="l">
                        <a:lnSpc>
                          <a:spcPct val="102000"/>
                        </a:lnSpc>
                        <a:buNone/>
                      </a:pPr>
                      <a:r>
                        <a:rPr sz="1538" b="0">
                          <a:solidFill>
                            <a:srgbClr val="0B716A"/>
                          </a:solidFill>
                          <a:latin typeface="Arial"/>
                          <a:ea typeface="Arial"/>
                          <a:cs typeface="Arial"/>
                        </a:rPr>
                        <a:t>Abstain when evidence fails</a:t>
                      </a:r>
                    </a:p>
                  </a:txBody>
                  <a:tcPr marL="133350" marR="133350" marT="76200" marB="76200" anchor="ctr">
                    <a:lnL w="0">
                      <a:solidFill>
                        <a:srgbClr val="F4F7F9"/>
                      </a:solidFill>
                    </a:lnL>
                    <a:lnR w="0">
                      <a:solidFill>
                        <a:srgbClr val="F4F7F9"/>
                      </a:solidFill>
                    </a:lnR>
                    <a:lnT w="5715">
                      <a:solidFill>
                        <a:srgbClr val="D3DEE6"/>
                      </a:solidFill>
                    </a:lnT>
                    <a:lnB w="5715">
                      <a:solidFill>
                        <a:srgbClr val="D3DEE6"/>
                      </a:solidFill>
                    </a:lnB>
                    <a:solidFill>
                      <a:srgbClr val="F4F7F9"/>
                    </a:solidFill>
                  </a:tcPr>
                </a:tc>
              </a:tr>
              <a:tr h="619125">
                <a:tc>
                  <a:txBody>
                    <a:bodyPr wrap="square" lIns="133350" tIns="76200" rIns="133350" bIns="76200">
                      <a:noAutofit/>
                    </a:bodyPr>
                    <a:lstStyle/>
                    <a:p>
                      <a:pPr algn="l">
                        <a:lnSpc>
                          <a:spcPct val="102000"/>
                        </a:lnSpc>
                        <a:buNone/>
                      </a:pPr>
                      <a:r>
                        <a:rPr sz="1538" b="1">
                          <a:solidFill>
                            <a:srgbClr val="193047"/>
                          </a:solidFill>
                          <a:latin typeface="Arial"/>
                          <a:ea typeface="Arial"/>
                          <a:cs typeface="Arial"/>
                        </a:rPr>
                        <a:t>Indian language access</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38" b="0" u="sng">
                          <a:solidFill>
                            <a:srgbClr val="245C91"/>
                          </a:solidFill>
                          <a:latin typeface="Arial"/>
                          <a:ea typeface="Arial"/>
                          <a:cs typeface="Arial"/>
                          <a:hlinkClick xmlns:r="http://schemas.openxmlformats.org/officeDocument/2006/relationships" r:id="Rab9b4a9609fc44ef"/>
                        </a:rPr>
                        <a:t>AI4Bharat IndicTrans2</a:t>
                      </a:r>
                    </a:p>
                    <a:p>
                      <a:pPr algn="l">
                        <a:lnSpc>
                          <a:spcPct val="102000"/>
                        </a:lnSpc>
                        <a:buNone/>
                      </a:pPr>
                      <a:r>
                        <a:rPr sz="1538" b="0" u="sng">
                          <a:solidFill>
                            <a:srgbClr val="245C91"/>
                          </a:solidFill>
                          <a:latin typeface="Arial"/>
                          <a:ea typeface="Arial"/>
                          <a:cs typeface="Arial"/>
                          <a:hlinkClick xmlns:r="http://schemas.openxmlformats.org/officeDocument/2006/relationships" r:id="R0f290786a5ea41e3"/>
                        </a:rPr>
                        <a:t>Bhashini</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c>
                  <a:txBody>
                    <a:bodyPr wrap="square" lIns="133350" tIns="76200" rIns="133350" bIns="76200">
                      <a:noAutofit/>
                    </a:bodyPr>
                    <a:lstStyle/>
                    <a:p>
                      <a:pPr algn="l">
                        <a:lnSpc>
                          <a:spcPct val="102000"/>
                        </a:lnSpc>
                        <a:buNone/>
                      </a:pPr>
                      <a:r>
                        <a:rPr sz="1538" b="0">
                          <a:solidFill>
                            <a:srgbClr val="0B716A"/>
                          </a:solidFill>
                          <a:latin typeface="Arial"/>
                          <a:ea typeface="Arial"/>
                          <a:cs typeface="Arial"/>
                        </a:rPr>
                        <a:t>Multilingual guidance with</a:t>
                      </a:r>
                    </a:p>
                    <a:p>
                      <a:pPr algn="l">
                        <a:lnSpc>
                          <a:spcPct val="102000"/>
                        </a:lnSpc>
                        <a:buNone/>
                      </a:pPr>
                      <a:r>
                        <a:rPr sz="1538" b="0">
                          <a:solidFill>
                            <a:srgbClr val="0B716A"/>
                          </a:solidFill>
                          <a:latin typeface="Arial"/>
                          <a:ea typeface="Arial"/>
                          <a:cs typeface="Arial"/>
                        </a:rPr>
                        <a:t>original statutory wording</a:t>
                      </a:r>
                    </a:p>
                  </a:txBody>
                  <a:tcPr marL="133350" marR="133350" marT="76200" marB="76200" anchor="ctr">
                    <a:lnL w="0">
                      <a:solidFill>
                        <a:srgbClr val="FFFFFF"/>
                      </a:solidFill>
                    </a:lnL>
                    <a:lnR w="0">
                      <a:solidFill>
                        <a:srgbClr val="FFFFFF"/>
                      </a:solidFill>
                    </a:lnR>
                    <a:lnT w="5715">
                      <a:solidFill>
                        <a:srgbClr val="D3DEE6"/>
                      </a:solidFill>
                    </a:lnT>
                    <a:lnB w="5715">
                      <a:solidFill>
                        <a:srgbClr val="D3DEE6"/>
                      </a:solidFill>
                    </a:lnB>
                    <a:solidFill>
                      <a:srgbClr val="FFFFFF"/>
                    </a:solidFill>
                  </a:tcPr>
                </a:tc>
              </a:tr>
            </a:tbl>
          </a:graphicData>
        </a:graphic>
      </p:graphicFrame>
      <p:sp>
        <p:nvSpPr>
          <p:cNvPr id="17414" name="ABS expansion">
            <a:extLst xmlns:a="http://schemas.openxmlformats.org/drawingml/2006/main">
              <a:ext uri="{FF2B5EF4-FFF2-40B4-BE49-F238E27FC236}">
                <a16:creationId xmlns:a16="http://schemas.microsoft.com/office/drawing/2014/main" id="{C01CA085-3E82-43C8-9332-D538F6DDABE5}"/>
              </a:ext>
            </a:extLst>
          </p:cNvPr>
          <p:cNvSpPr>
            <a:spLocks xmlns:a="http://schemas.openxmlformats.org/drawingml/2006/main" noGrp="1"/>
          </p:cNvSpPr>
          <p:nvPr/>
        </p:nvSpPr>
        <p:spPr>
          <a:xfrm xmlns:a="http://schemas.openxmlformats.org/drawingml/2006/main">
            <a:off x="428625" y="6162675"/>
            <a:ext cx="1133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56575"/>
                </a:solidFill>
                <a:latin typeface="Arial"/>
                <a:ea typeface="Arial"/>
                <a:cs typeface="Arial"/>
              </a:defRPr>
            </a:pPr>
            <a:r>
              <a:t>ABS = access and benefit sharing. Linked source names provide the reference trail.</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SIH Navy and Teal">
      <a:dk1>
        <a:srgbClr val="193047"/>
      </a:dk1>
      <a:lt1>
        <a:srgbClr val="FFFFFF"/>
      </a:lt1>
      <a:dk2>
        <a:srgbClr val="17365D"/>
      </a:dk2>
      <a:lt2>
        <a:srgbClr val="F4F7F9"/>
      </a:lt2>
      <a:accent1>
        <a:srgbClr val="17365D"/>
      </a:accent1>
      <a:accent2>
        <a:srgbClr val="0B716A"/>
      </a:accent2>
      <a:accent3>
        <a:srgbClr val="986216"/>
      </a:accent3>
      <a:accent4>
        <a:srgbClr val="245C91"/>
      </a:accent4>
      <a:accent5>
        <a:srgbClr val="A13434"/>
      </a:accent5>
      <a:accent6>
        <a:srgbClr val="556575"/>
      </a:accent6>
      <a:hlink>
        <a:srgbClr val="245C91"/>
      </a:hlink>
      <a:folHlink>
        <a:srgbClr val="0B716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SIH Navy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2026-09-22T11:33:56.9810000Z</dcterms:created>
  <dcterms:modified xsi:type="dcterms:W3CDTF">2026-09-22T11:33:56.9810000Z</dcterms:modified>
</coreProperties>
</file>